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7"/>
  </p:notesMasterIdLst>
  <p:sldIdLst>
    <p:sldId id="257" r:id="rId2"/>
    <p:sldId id="258" r:id="rId3"/>
    <p:sldId id="259" r:id="rId4"/>
    <p:sldId id="262" r:id="rId5"/>
    <p:sldId id="261" r:id="rId6"/>
    <p:sldId id="264" r:id="rId7"/>
    <p:sldId id="271" r:id="rId8"/>
    <p:sldId id="263" r:id="rId9"/>
    <p:sldId id="265" r:id="rId10"/>
    <p:sldId id="266" r:id="rId11"/>
    <p:sldId id="267" r:id="rId12"/>
    <p:sldId id="269" r:id="rId13"/>
    <p:sldId id="270" r:id="rId14"/>
    <p:sldId id="272" r:id="rId15"/>
    <p:sldId id="268" r:id="rId16"/>
  </p:sldIdLst>
  <p:sldSz cx="12192000" cy="6858000"/>
  <p:notesSz cx="6858000" cy="9144000"/>
  <p:defaultTextStyle>
    <a:defPPr>
      <a:defRPr lang="zh-SG"/>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83" d="100"/>
          <a:sy n="83" d="100"/>
        </p:scale>
        <p:origin x="614" y="6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SG"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49D7535-5640-4CDC-B8B8-8B3113807410}" type="datetimeFigureOut">
              <a:rPr lang="zh-SG" altLang="en-US" smtClean="0"/>
              <a:t>25/10/2025</a:t>
            </a:fld>
            <a:endParaRPr lang="zh-SG"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SG"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SG"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SG"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9FD3435-7A8A-456E-BE9D-F2D7872B3C99}" type="slidenum">
              <a:rPr lang="zh-SG" altLang="en-US" smtClean="0"/>
              <a:t>‹#›</a:t>
            </a:fld>
            <a:endParaRPr lang="zh-SG" altLang="en-US"/>
          </a:p>
        </p:txBody>
      </p:sp>
    </p:spTree>
    <p:extLst>
      <p:ext uri="{BB962C8B-B14F-4D97-AF65-F5344CB8AC3E}">
        <p14:creationId xmlns:p14="http://schemas.microsoft.com/office/powerpoint/2010/main" val="281101339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0706" name="Rectangle 7"/>
          <p:cNvSpPr>
            <a:spLocks noGrp="1" noChangeArrowheads="1"/>
          </p:cNvSpPr>
          <p:nvPr>
            <p:ph type="sldNum" sz="quarter" idx="5"/>
          </p:nvPr>
        </p:nvSpPr>
        <p:spPr>
          <a:noFill/>
        </p:spPr>
        <p:txBody>
          <a:bodyPr/>
          <a:lstStyle/>
          <a:p>
            <a:pPr marL="0" marR="0" lvl="0" indent="0" algn="r" defTabSz="903089" rtl="0" eaLnBrk="0" fontAlgn="base" latinLnBrk="0" hangingPunct="0">
              <a:lnSpc>
                <a:spcPct val="100000"/>
              </a:lnSpc>
              <a:spcBef>
                <a:spcPct val="0"/>
              </a:spcBef>
              <a:spcAft>
                <a:spcPct val="0"/>
              </a:spcAft>
              <a:buClrTx/>
              <a:buSzTx/>
              <a:buFontTx/>
              <a:buNone/>
              <a:tabLst/>
              <a:defRPr/>
            </a:pPr>
            <a:fld id="{719AC2FC-1E50-4D23-921C-DF7A409BBA09}" type="slidenum">
              <a:rPr kumimoji="0" lang="ko-KR" altLang="en-US" sz="1300" b="0" i="0" u="none" strike="noStrike" kern="1200" cap="none" spc="0" normalizeH="0" baseline="0" noProof="0" smtClean="0">
                <a:ln>
                  <a:noFill/>
                </a:ln>
                <a:solidFill>
                  <a:srgbClr val="000000"/>
                </a:solidFill>
                <a:effectLst/>
                <a:uLnTx/>
                <a:uFillTx/>
                <a:latin typeface="Times New Roman" pitchFamily="18" charset="0"/>
                <a:ea typeface="굴림" pitchFamily="34" charset="-127"/>
                <a:cs typeface="+mn-cs"/>
              </a:rPr>
              <a:pPr marL="0" marR="0" lvl="0" indent="0" algn="r" defTabSz="903089" rtl="0" eaLnBrk="0" fontAlgn="base" latinLnBrk="0" hangingPunct="0">
                <a:lnSpc>
                  <a:spcPct val="100000"/>
                </a:lnSpc>
                <a:spcBef>
                  <a:spcPct val="0"/>
                </a:spcBef>
                <a:spcAft>
                  <a:spcPct val="0"/>
                </a:spcAft>
                <a:buClrTx/>
                <a:buSzTx/>
                <a:buFontTx/>
                <a:buNone/>
                <a:tabLst/>
                <a:defRPr/>
              </a:pPr>
              <a:t>1</a:t>
            </a:fld>
            <a:endParaRPr kumimoji="0" lang="en-US" altLang="ko-KR" sz="1300" b="0" i="0" u="none" strike="noStrike" kern="1200" cap="none" spc="0" normalizeH="0" baseline="0" noProof="0" smtClean="0">
              <a:ln>
                <a:noFill/>
              </a:ln>
              <a:solidFill>
                <a:srgbClr val="000000"/>
              </a:solidFill>
              <a:effectLst/>
              <a:uLnTx/>
              <a:uFillTx/>
              <a:latin typeface="Times New Roman" pitchFamily="18" charset="0"/>
              <a:ea typeface="굴림" pitchFamily="34" charset="-127"/>
              <a:cs typeface="+mn-cs"/>
            </a:endParaRPr>
          </a:p>
        </p:txBody>
      </p:sp>
      <p:sp>
        <p:nvSpPr>
          <p:cNvPr id="200707" name="Rectangle 2"/>
          <p:cNvSpPr>
            <a:spLocks noGrp="1" noRot="1" noChangeAspect="1" noChangeArrowheads="1" noTextEdit="1"/>
          </p:cNvSpPr>
          <p:nvPr>
            <p:ph type="sldImg"/>
          </p:nvPr>
        </p:nvSpPr>
        <p:spPr>
          <a:ln/>
        </p:spPr>
      </p:sp>
      <p:sp>
        <p:nvSpPr>
          <p:cNvPr id="200708" name="Rectangle 3"/>
          <p:cNvSpPr>
            <a:spLocks noGrp="1" noChangeArrowheads="1"/>
          </p:cNvSpPr>
          <p:nvPr>
            <p:ph type="body" idx="1"/>
          </p:nvPr>
        </p:nvSpPr>
        <p:spPr>
          <a:noFill/>
          <a:ln/>
        </p:spPr>
        <p:txBody>
          <a:bodyPr/>
          <a:lstStyle/>
          <a:p>
            <a:endParaRPr lang="en-US" smtClean="0"/>
          </a:p>
        </p:txBody>
      </p:sp>
    </p:spTree>
    <p:extLst>
      <p:ext uri="{BB962C8B-B14F-4D97-AF65-F5344CB8AC3E}">
        <p14:creationId xmlns:p14="http://schemas.microsoft.com/office/powerpoint/2010/main" val="328821143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1058" name="Rectangle 7"/>
          <p:cNvSpPr>
            <a:spLocks noGrp="1" noChangeArrowheads="1"/>
          </p:cNvSpPr>
          <p:nvPr>
            <p:ph type="sldNum" sz="quarter" idx="5"/>
          </p:nvPr>
        </p:nvSpPr>
        <p:spPr>
          <a:noFill/>
        </p:spPr>
        <p:txBody>
          <a:bodyPr/>
          <a:lstStyle/>
          <a:p>
            <a:fld id="{40BD52C5-FFD4-40B7-BC3C-41B1B0D2DDA5}" type="slidenum">
              <a:rPr lang="ko-KR" altLang="en-US" smtClean="0"/>
              <a:pPr/>
              <a:t>2</a:t>
            </a:fld>
            <a:endParaRPr lang="en-US" altLang="ko-KR" smtClean="0"/>
          </a:p>
        </p:txBody>
      </p:sp>
      <p:sp>
        <p:nvSpPr>
          <p:cNvPr id="301059" name="Rectangle 2"/>
          <p:cNvSpPr>
            <a:spLocks noGrp="1" noRot="1" noChangeAspect="1" noChangeArrowheads="1" noTextEdit="1"/>
          </p:cNvSpPr>
          <p:nvPr>
            <p:ph type="sldImg"/>
          </p:nvPr>
        </p:nvSpPr>
        <p:spPr>
          <a:ln/>
        </p:spPr>
      </p:sp>
      <p:sp>
        <p:nvSpPr>
          <p:cNvPr id="301060" name="Rectangle 3"/>
          <p:cNvSpPr>
            <a:spLocks noGrp="1" noChangeArrowheads="1"/>
          </p:cNvSpPr>
          <p:nvPr>
            <p:ph type="body" idx="1"/>
          </p:nvPr>
        </p:nvSpPr>
        <p:spPr>
          <a:noFill/>
          <a:ln/>
        </p:spPr>
        <p:txBody>
          <a:bodyPr/>
          <a:lstStyle/>
          <a:p>
            <a:endParaRPr lang="en-US" smtClean="0"/>
          </a:p>
        </p:txBody>
      </p:sp>
    </p:spTree>
    <p:extLst>
      <p:ext uri="{BB962C8B-B14F-4D97-AF65-F5344CB8AC3E}">
        <p14:creationId xmlns:p14="http://schemas.microsoft.com/office/powerpoint/2010/main" val="6042507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C95DC660-C5FE-4885-ACE1-8155E0FBFD67}" type="slidenum">
              <a:rPr lang="ko-KR" altLang="en-US" smtClean="0"/>
              <a:pPr>
                <a:defRPr/>
              </a:pPr>
              <a:t>4</a:t>
            </a:fld>
            <a:endParaRPr lang="en-US" altLang="ko-KR"/>
          </a:p>
        </p:txBody>
      </p:sp>
    </p:spTree>
    <p:extLst>
      <p:ext uri="{BB962C8B-B14F-4D97-AF65-F5344CB8AC3E}">
        <p14:creationId xmlns:p14="http://schemas.microsoft.com/office/powerpoint/2010/main" val="107082079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1906" name="Rectangle 7"/>
          <p:cNvSpPr>
            <a:spLocks noGrp="1" noChangeArrowheads="1"/>
          </p:cNvSpPr>
          <p:nvPr>
            <p:ph type="sldNum" sz="quarter" idx="5"/>
          </p:nvPr>
        </p:nvSpPr>
        <p:spPr>
          <a:noFill/>
        </p:spPr>
        <p:txBody>
          <a:bodyPr/>
          <a:lstStyle/>
          <a:p>
            <a:fld id="{0F4FE5B7-2A17-4B95-927A-CBB592DE7103}" type="slidenum">
              <a:rPr lang="ko-KR" altLang="en-US" smtClean="0"/>
              <a:pPr/>
              <a:t>5</a:t>
            </a:fld>
            <a:endParaRPr lang="en-US" altLang="ko-KR" smtClean="0"/>
          </a:p>
        </p:txBody>
      </p:sp>
      <p:sp>
        <p:nvSpPr>
          <p:cNvPr id="251907" name="Rectangle 2"/>
          <p:cNvSpPr>
            <a:spLocks noGrp="1" noRot="1" noChangeAspect="1" noChangeArrowheads="1" noTextEdit="1"/>
          </p:cNvSpPr>
          <p:nvPr>
            <p:ph type="sldImg"/>
          </p:nvPr>
        </p:nvSpPr>
        <p:spPr>
          <a:xfrm>
            <a:off x="2713038" y="512763"/>
            <a:ext cx="4545012" cy="2557462"/>
          </a:xfrm>
          <a:ln/>
        </p:spPr>
      </p:sp>
      <p:sp>
        <p:nvSpPr>
          <p:cNvPr id="251908" name="Rectangle 3"/>
          <p:cNvSpPr>
            <a:spLocks noGrp="1" noChangeArrowheads="1"/>
          </p:cNvSpPr>
          <p:nvPr>
            <p:ph type="body" idx="1"/>
          </p:nvPr>
        </p:nvSpPr>
        <p:spPr>
          <a:xfrm>
            <a:off x="1332508" y="3237626"/>
            <a:ext cx="7266389" cy="3069869"/>
          </a:xfrm>
          <a:noFill/>
          <a:ln/>
        </p:spPr>
        <p:txBody>
          <a:bodyPr/>
          <a:lstStyle/>
          <a:p>
            <a:r>
              <a:rPr lang="en-US" altLang="ko-KR" smtClean="0">
                <a:ea typeface="굴림" pitchFamily="34" charset="-127"/>
              </a:rPr>
              <a:t>See MS Word file</a:t>
            </a:r>
          </a:p>
        </p:txBody>
      </p:sp>
    </p:spTree>
    <p:extLst>
      <p:ext uri="{BB962C8B-B14F-4D97-AF65-F5344CB8AC3E}">
        <p14:creationId xmlns:p14="http://schemas.microsoft.com/office/powerpoint/2010/main" val="191118393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62" name="Rectangle 7"/>
          <p:cNvSpPr>
            <a:spLocks noGrp="1" noChangeArrowheads="1"/>
          </p:cNvSpPr>
          <p:nvPr>
            <p:ph type="sldNum" sz="quarter" idx="5"/>
          </p:nvPr>
        </p:nvSpPr>
        <p:spPr>
          <a:noFill/>
        </p:spPr>
        <p:txBody>
          <a:bodyPr/>
          <a:lstStyle/>
          <a:p>
            <a:fld id="{C982B25D-8B5D-473C-9BD3-8B6AA04A0F4E}" type="slidenum">
              <a:rPr lang="ko-KR" altLang="en-US" smtClean="0"/>
              <a:pPr/>
              <a:t>6</a:t>
            </a:fld>
            <a:endParaRPr lang="en-US" altLang="ko-KR" smtClean="0"/>
          </a:p>
        </p:txBody>
      </p:sp>
      <p:sp>
        <p:nvSpPr>
          <p:cNvPr id="296963" name="Rectangle 2"/>
          <p:cNvSpPr>
            <a:spLocks noGrp="1" noRot="1" noChangeAspect="1" noChangeArrowheads="1" noTextEdit="1"/>
          </p:cNvSpPr>
          <p:nvPr>
            <p:ph type="sldImg"/>
          </p:nvPr>
        </p:nvSpPr>
        <p:spPr>
          <a:ln/>
        </p:spPr>
      </p:sp>
      <p:sp>
        <p:nvSpPr>
          <p:cNvPr id="296964" name="Rectangle 3"/>
          <p:cNvSpPr>
            <a:spLocks noGrp="1" noChangeArrowheads="1"/>
          </p:cNvSpPr>
          <p:nvPr>
            <p:ph type="body" idx="1"/>
          </p:nvPr>
        </p:nvSpPr>
        <p:spPr>
          <a:noFill/>
          <a:ln/>
        </p:spPr>
        <p:txBody>
          <a:bodyPr/>
          <a:lstStyle/>
          <a:p>
            <a:r>
              <a:rPr lang="en-US" altLang="ko-KR" dirty="0" smtClean="0">
                <a:ea typeface="굴림" pitchFamily="34" charset="-127"/>
              </a:rPr>
              <a:t>For coach: share your own example on getting tough feedback, developing a plan, and implementing that successfully.</a:t>
            </a:r>
          </a:p>
        </p:txBody>
      </p:sp>
    </p:spTree>
    <p:extLst>
      <p:ext uri="{BB962C8B-B14F-4D97-AF65-F5344CB8AC3E}">
        <p14:creationId xmlns:p14="http://schemas.microsoft.com/office/powerpoint/2010/main" val="7532633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2866" name="Rectangle 7"/>
          <p:cNvSpPr>
            <a:spLocks noGrp="1" noChangeArrowheads="1"/>
          </p:cNvSpPr>
          <p:nvPr>
            <p:ph type="sldNum" sz="quarter" idx="5"/>
          </p:nvPr>
        </p:nvSpPr>
        <p:spPr>
          <a:noFill/>
        </p:spPr>
        <p:txBody>
          <a:bodyPr/>
          <a:lstStyle/>
          <a:p>
            <a:fld id="{1A82DCE7-BC35-4FEC-B721-9098BD8A4A11}" type="slidenum">
              <a:rPr lang="ko-KR" altLang="en-US" smtClean="0"/>
              <a:pPr/>
              <a:t>7</a:t>
            </a:fld>
            <a:endParaRPr lang="en-US" altLang="ko-KR" smtClean="0"/>
          </a:p>
        </p:txBody>
      </p:sp>
      <p:sp>
        <p:nvSpPr>
          <p:cNvPr id="292867" name="Rectangle 2"/>
          <p:cNvSpPr>
            <a:spLocks noGrp="1" noRot="1" noChangeAspect="1" noChangeArrowheads="1" noTextEdit="1"/>
          </p:cNvSpPr>
          <p:nvPr>
            <p:ph type="sldImg"/>
          </p:nvPr>
        </p:nvSpPr>
        <p:spPr>
          <a:xfrm>
            <a:off x="2709863" y="514350"/>
            <a:ext cx="4543425" cy="2555875"/>
          </a:xfrm>
          <a:ln/>
        </p:spPr>
      </p:sp>
      <p:sp>
        <p:nvSpPr>
          <p:cNvPr id="292868" name="Rectangle 3"/>
          <p:cNvSpPr>
            <a:spLocks noGrp="1" noChangeArrowheads="1"/>
          </p:cNvSpPr>
          <p:nvPr>
            <p:ph type="body" idx="1"/>
          </p:nvPr>
        </p:nvSpPr>
        <p:spPr>
          <a:noFill/>
          <a:ln/>
        </p:spPr>
        <p:txBody>
          <a:bodyPr/>
          <a:lstStyle/>
          <a:p>
            <a:endParaRPr lang="en-US" smtClean="0"/>
          </a:p>
        </p:txBody>
      </p:sp>
    </p:spTree>
    <p:extLst>
      <p:ext uri="{BB962C8B-B14F-4D97-AF65-F5344CB8AC3E}">
        <p14:creationId xmlns:p14="http://schemas.microsoft.com/office/powerpoint/2010/main" val="143995173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0034" name="Rectangle 7"/>
          <p:cNvSpPr>
            <a:spLocks noGrp="1" noChangeArrowheads="1"/>
          </p:cNvSpPr>
          <p:nvPr>
            <p:ph type="sldNum" sz="quarter" idx="5"/>
          </p:nvPr>
        </p:nvSpPr>
        <p:spPr>
          <a:noFill/>
        </p:spPr>
        <p:txBody>
          <a:bodyPr/>
          <a:lstStyle/>
          <a:p>
            <a:fld id="{D4E886D7-B7FC-409F-B966-205A0919A925}" type="slidenum">
              <a:rPr lang="ko-KR" altLang="en-US" smtClean="0"/>
              <a:pPr/>
              <a:t>8</a:t>
            </a:fld>
            <a:endParaRPr lang="en-US" altLang="ko-KR" smtClean="0"/>
          </a:p>
        </p:txBody>
      </p:sp>
      <p:sp>
        <p:nvSpPr>
          <p:cNvPr id="300035" name="Rectangle 2"/>
          <p:cNvSpPr>
            <a:spLocks noGrp="1" noRot="1" noChangeAspect="1" noChangeArrowheads="1" noTextEdit="1"/>
          </p:cNvSpPr>
          <p:nvPr>
            <p:ph type="sldImg"/>
          </p:nvPr>
        </p:nvSpPr>
        <p:spPr>
          <a:ln/>
        </p:spPr>
      </p:sp>
      <p:sp>
        <p:nvSpPr>
          <p:cNvPr id="300036" name="Rectangle 3"/>
          <p:cNvSpPr>
            <a:spLocks noGrp="1" noChangeArrowheads="1"/>
          </p:cNvSpPr>
          <p:nvPr>
            <p:ph type="body" idx="1"/>
          </p:nvPr>
        </p:nvSpPr>
        <p:spPr>
          <a:noFill/>
          <a:ln/>
        </p:spPr>
        <p:txBody>
          <a:bodyPr/>
          <a:lstStyle/>
          <a:p>
            <a:endParaRPr lang="en-US" smtClean="0"/>
          </a:p>
        </p:txBody>
      </p:sp>
    </p:spTree>
    <p:extLst>
      <p:ext uri="{BB962C8B-B14F-4D97-AF65-F5344CB8AC3E}">
        <p14:creationId xmlns:p14="http://schemas.microsoft.com/office/powerpoint/2010/main" val="147024782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3106" name="Rectangle 7"/>
          <p:cNvSpPr>
            <a:spLocks noGrp="1" noChangeArrowheads="1"/>
          </p:cNvSpPr>
          <p:nvPr>
            <p:ph type="sldNum" sz="quarter" idx="5"/>
          </p:nvPr>
        </p:nvSpPr>
        <p:spPr>
          <a:noFill/>
        </p:spPr>
        <p:txBody>
          <a:bodyPr/>
          <a:lstStyle/>
          <a:p>
            <a:fld id="{1D2F6710-5D71-484C-B485-F2CB4A1AFBC1}" type="slidenum">
              <a:rPr lang="ko-KR" altLang="en-US" smtClean="0"/>
              <a:pPr/>
              <a:t>9</a:t>
            </a:fld>
            <a:endParaRPr lang="en-US" altLang="ko-KR" smtClean="0"/>
          </a:p>
        </p:txBody>
      </p:sp>
      <p:sp>
        <p:nvSpPr>
          <p:cNvPr id="303107" name="Rectangle 2"/>
          <p:cNvSpPr>
            <a:spLocks noGrp="1" noRot="1" noChangeAspect="1" noChangeArrowheads="1" noTextEdit="1"/>
          </p:cNvSpPr>
          <p:nvPr>
            <p:ph type="sldImg"/>
          </p:nvPr>
        </p:nvSpPr>
        <p:spPr>
          <a:ln/>
        </p:spPr>
      </p:sp>
      <p:sp>
        <p:nvSpPr>
          <p:cNvPr id="303108" name="Rectangle 3"/>
          <p:cNvSpPr>
            <a:spLocks noGrp="1" noChangeArrowheads="1"/>
          </p:cNvSpPr>
          <p:nvPr>
            <p:ph type="body" idx="1"/>
          </p:nvPr>
        </p:nvSpPr>
        <p:spPr>
          <a:noFill/>
          <a:ln/>
        </p:spPr>
        <p:txBody>
          <a:bodyPr/>
          <a:lstStyle/>
          <a:p>
            <a:endParaRPr lang="en-US" smtClean="0"/>
          </a:p>
        </p:txBody>
      </p:sp>
    </p:spTree>
    <p:extLst>
      <p:ext uri="{BB962C8B-B14F-4D97-AF65-F5344CB8AC3E}">
        <p14:creationId xmlns:p14="http://schemas.microsoft.com/office/powerpoint/2010/main" val="400895399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6418" name="Rectangle 7"/>
          <p:cNvSpPr>
            <a:spLocks noGrp="1" noChangeArrowheads="1"/>
          </p:cNvSpPr>
          <p:nvPr>
            <p:ph type="sldNum" sz="quarter" idx="5"/>
          </p:nvPr>
        </p:nvSpPr>
        <p:spPr>
          <a:noFill/>
        </p:spPr>
        <p:txBody>
          <a:bodyPr/>
          <a:lstStyle/>
          <a:p>
            <a:fld id="{625BD634-E072-4611-8E29-2FD37C1BDF4D}" type="slidenum">
              <a:rPr lang="ko-KR" altLang="en-US" smtClean="0"/>
              <a:pPr/>
              <a:t>10</a:t>
            </a:fld>
            <a:endParaRPr lang="en-US" altLang="ko-KR" smtClean="0"/>
          </a:p>
        </p:txBody>
      </p:sp>
      <p:sp>
        <p:nvSpPr>
          <p:cNvPr id="316419" name="Rectangle 2"/>
          <p:cNvSpPr>
            <a:spLocks noGrp="1" noRot="1" noChangeAspect="1" noChangeArrowheads="1" noTextEdit="1"/>
          </p:cNvSpPr>
          <p:nvPr>
            <p:ph type="sldImg"/>
          </p:nvPr>
        </p:nvSpPr>
        <p:spPr>
          <a:ln/>
        </p:spPr>
      </p:sp>
      <p:sp>
        <p:nvSpPr>
          <p:cNvPr id="316420" name="Rectangle 3"/>
          <p:cNvSpPr>
            <a:spLocks noGrp="1" noChangeArrowheads="1"/>
          </p:cNvSpPr>
          <p:nvPr>
            <p:ph type="body" idx="1"/>
          </p:nvPr>
        </p:nvSpPr>
        <p:spPr>
          <a:noFill/>
          <a:ln/>
        </p:spPr>
        <p:txBody>
          <a:bodyPr/>
          <a:lstStyle/>
          <a:p>
            <a:endParaRPr lang="en-US" smtClean="0"/>
          </a:p>
        </p:txBody>
      </p:sp>
    </p:spTree>
    <p:extLst>
      <p:ext uri="{BB962C8B-B14F-4D97-AF65-F5344CB8AC3E}">
        <p14:creationId xmlns:p14="http://schemas.microsoft.com/office/powerpoint/2010/main" val="109808695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8466" name="Rectangle 7"/>
          <p:cNvSpPr>
            <a:spLocks noGrp="1" noChangeArrowheads="1"/>
          </p:cNvSpPr>
          <p:nvPr>
            <p:ph type="sldNum" sz="quarter" idx="5"/>
          </p:nvPr>
        </p:nvSpPr>
        <p:spPr>
          <a:noFill/>
        </p:spPr>
        <p:txBody>
          <a:bodyPr/>
          <a:lstStyle/>
          <a:p>
            <a:fld id="{196C2A21-A2B3-4746-AA48-229B419A3744}" type="slidenum">
              <a:rPr lang="ko-KR" altLang="en-US" smtClean="0"/>
              <a:pPr/>
              <a:t>12</a:t>
            </a:fld>
            <a:endParaRPr lang="en-US" altLang="ko-KR" smtClean="0"/>
          </a:p>
        </p:txBody>
      </p:sp>
      <p:sp>
        <p:nvSpPr>
          <p:cNvPr id="318467" name="Rectangle 2"/>
          <p:cNvSpPr>
            <a:spLocks noGrp="1" noRot="1" noChangeAspect="1" noChangeArrowheads="1" noTextEdit="1"/>
          </p:cNvSpPr>
          <p:nvPr>
            <p:ph type="sldImg"/>
          </p:nvPr>
        </p:nvSpPr>
        <p:spPr>
          <a:ln/>
        </p:spPr>
      </p:sp>
      <p:sp>
        <p:nvSpPr>
          <p:cNvPr id="318468" name="Rectangle 3"/>
          <p:cNvSpPr>
            <a:spLocks noGrp="1" noChangeArrowheads="1"/>
          </p:cNvSpPr>
          <p:nvPr>
            <p:ph type="body" idx="1"/>
          </p:nvPr>
        </p:nvSpPr>
        <p:spPr>
          <a:noFill/>
          <a:ln/>
        </p:spPr>
        <p:txBody>
          <a:bodyPr/>
          <a:lstStyle/>
          <a:p>
            <a:endParaRPr lang="en-US" smtClean="0"/>
          </a:p>
        </p:txBody>
      </p:sp>
    </p:spTree>
    <p:extLst>
      <p:ext uri="{BB962C8B-B14F-4D97-AF65-F5344CB8AC3E}">
        <p14:creationId xmlns:p14="http://schemas.microsoft.com/office/powerpoint/2010/main" val="229484543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9490" name="Rectangle 7"/>
          <p:cNvSpPr>
            <a:spLocks noGrp="1" noChangeArrowheads="1"/>
          </p:cNvSpPr>
          <p:nvPr>
            <p:ph type="sldNum" sz="quarter" idx="5"/>
          </p:nvPr>
        </p:nvSpPr>
        <p:spPr>
          <a:noFill/>
        </p:spPr>
        <p:txBody>
          <a:bodyPr/>
          <a:lstStyle/>
          <a:p>
            <a:fld id="{992C71BB-466D-4A43-9D01-E468AC14C6DE}" type="slidenum">
              <a:rPr lang="ko-KR" altLang="en-US" smtClean="0"/>
              <a:pPr/>
              <a:t>13</a:t>
            </a:fld>
            <a:endParaRPr lang="en-US" altLang="ko-KR" smtClean="0"/>
          </a:p>
        </p:txBody>
      </p:sp>
      <p:sp>
        <p:nvSpPr>
          <p:cNvPr id="319491" name="Rectangle 2"/>
          <p:cNvSpPr>
            <a:spLocks noGrp="1" noRot="1" noChangeAspect="1" noChangeArrowheads="1" noTextEdit="1"/>
          </p:cNvSpPr>
          <p:nvPr>
            <p:ph type="sldImg"/>
          </p:nvPr>
        </p:nvSpPr>
        <p:spPr>
          <a:xfrm>
            <a:off x="2713038" y="512763"/>
            <a:ext cx="4545012" cy="2557462"/>
          </a:xfrm>
          <a:ln/>
        </p:spPr>
      </p:sp>
      <p:sp>
        <p:nvSpPr>
          <p:cNvPr id="319492" name="Rectangle 3"/>
          <p:cNvSpPr>
            <a:spLocks noGrp="1" noChangeArrowheads="1"/>
          </p:cNvSpPr>
          <p:nvPr>
            <p:ph type="body" idx="1"/>
          </p:nvPr>
        </p:nvSpPr>
        <p:spPr>
          <a:xfrm>
            <a:off x="1332508" y="3237626"/>
            <a:ext cx="7266389" cy="3069869"/>
          </a:xfrm>
          <a:noFill/>
          <a:ln/>
        </p:spPr>
        <p:txBody>
          <a:bodyPr/>
          <a:lstStyle/>
          <a:p>
            <a:endParaRPr lang="en-US" smtClean="0"/>
          </a:p>
        </p:txBody>
      </p:sp>
    </p:spTree>
    <p:extLst>
      <p:ext uri="{BB962C8B-B14F-4D97-AF65-F5344CB8AC3E}">
        <p14:creationId xmlns:p14="http://schemas.microsoft.com/office/powerpoint/2010/main" val="294206517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7378" name="Rectangle 7"/>
          <p:cNvSpPr>
            <a:spLocks noGrp="1" noChangeArrowheads="1"/>
          </p:cNvSpPr>
          <p:nvPr>
            <p:ph type="sldNum" sz="quarter" idx="5"/>
          </p:nvPr>
        </p:nvSpPr>
        <p:spPr>
          <a:noFill/>
        </p:spPr>
        <p:txBody>
          <a:bodyPr/>
          <a:lstStyle/>
          <a:p>
            <a:fld id="{3B24941A-D0BA-4EE7-AFD6-9473A2899D93}" type="slidenum">
              <a:rPr lang="ko-KR" altLang="en-US" smtClean="0"/>
              <a:pPr/>
              <a:t>15</a:t>
            </a:fld>
            <a:endParaRPr lang="en-US" altLang="ko-KR" smtClean="0"/>
          </a:p>
        </p:txBody>
      </p:sp>
      <p:sp>
        <p:nvSpPr>
          <p:cNvPr id="357379" name="Rectangle 2"/>
          <p:cNvSpPr>
            <a:spLocks noGrp="1" noRot="1" noChangeAspect="1" noChangeArrowheads="1" noTextEdit="1"/>
          </p:cNvSpPr>
          <p:nvPr>
            <p:ph type="sldImg"/>
          </p:nvPr>
        </p:nvSpPr>
        <p:spPr>
          <a:ln/>
        </p:spPr>
      </p:sp>
      <p:sp>
        <p:nvSpPr>
          <p:cNvPr id="357380" name="Rectangle 3"/>
          <p:cNvSpPr>
            <a:spLocks noGrp="1" noChangeArrowheads="1"/>
          </p:cNvSpPr>
          <p:nvPr>
            <p:ph type="body" idx="1"/>
          </p:nvPr>
        </p:nvSpPr>
        <p:spPr>
          <a:noFill/>
          <a:ln/>
        </p:spPr>
        <p:txBody>
          <a:bodyPr/>
          <a:lstStyle/>
          <a:p>
            <a:endParaRPr lang="en-US" smtClean="0"/>
          </a:p>
        </p:txBody>
      </p:sp>
    </p:spTree>
    <p:extLst>
      <p:ext uri="{BB962C8B-B14F-4D97-AF65-F5344CB8AC3E}">
        <p14:creationId xmlns:p14="http://schemas.microsoft.com/office/powerpoint/2010/main" val="61704508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smtClean="0"/>
              <a:t>单击此处编辑母版标题样式</a:t>
            </a:r>
            <a:endParaRPr lang="zh-SG" altLang="en-US"/>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smtClean="0"/>
              <a:t>单击以编辑母版副标题样式</a:t>
            </a:r>
            <a:endParaRPr lang="zh-SG" altLang="en-US"/>
          </a:p>
        </p:txBody>
      </p:sp>
      <p:sp>
        <p:nvSpPr>
          <p:cNvPr id="4" name="日期占位符 3"/>
          <p:cNvSpPr>
            <a:spLocks noGrp="1"/>
          </p:cNvSpPr>
          <p:nvPr>
            <p:ph type="dt" sz="half" idx="10"/>
          </p:nvPr>
        </p:nvSpPr>
        <p:spPr/>
        <p:txBody>
          <a:bodyPr/>
          <a:lstStyle/>
          <a:p>
            <a:fld id="{41BC04DF-DFEB-4A1F-92EA-24DE7E7F9C19}" type="datetimeFigureOut">
              <a:rPr lang="zh-SG" altLang="en-US" smtClean="0"/>
              <a:t>25/10/2025</a:t>
            </a:fld>
            <a:endParaRPr lang="zh-SG" altLang="en-US"/>
          </a:p>
        </p:txBody>
      </p:sp>
      <p:sp>
        <p:nvSpPr>
          <p:cNvPr id="5" name="页脚占位符 4"/>
          <p:cNvSpPr>
            <a:spLocks noGrp="1"/>
          </p:cNvSpPr>
          <p:nvPr>
            <p:ph type="ftr" sz="quarter" idx="11"/>
          </p:nvPr>
        </p:nvSpPr>
        <p:spPr/>
        <p:txBody>
          <a:bodyPr/>
          <a:lstStyle/>
          <a:p>
            <a:endParaRPr lang="zh-SG" altLang="en-US"/>
          </a:p>
        </p:txBody>
      </p:sp>
      <p:sp>
        <p:nvSpPr>
          <p:cNvPr id="6" name="灯片编号占位符 5"/>
          <p:cNvSpPr>
            <a:spLocks noGrp="1"/>
          </p:cNvSpPr>
          <p:nvPr>
            <p:ph type="sldNum" sz="quarter" idx="12"/>
          </p:nvPr>
        </p:nvSpPr>
        <p:spPr/>
        <p:txBody>
          <a:bodyPr/>
          <a:lstStyle/>
          <a:p>
            <a:fld id="{F7A2F459-1B08-436F-815A-EA708C000A5C}" type="slidenum">
              <a:rPr lang="zh-SG" altLang="en-US" smtClean="0"/>
              <a:t>‹#›</a:t>
            </a:fld>
            <a:endParaRPr lang="zh-SG" altLang="en-US"/>
          </a:p>
        </p:txBody>
      </p:sp>
    </p:spTree>
    <p:extLst>
      <p:ext uri="{BB962C8B-B14F-4D97-AF65-F5344CB8AC3E}">
        <p14:creationId xmlns:p14="http://schemas.microsoft.com/office/powerpoint/2010/main" val="261206805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SG" altLang="en-US"/>
          </a:p>
        </p:txBody>
      </p:sp>
      <p:sp>
        <p:nvSpPr>
          <p:cNvPr id="3" name="内容占位符 2"/>
          <p:cNvSpPr>
            <a:spLocks noGrp="1"/>
          </p:cNvSpPr>
          <p:nvPr>
            <p:ph idx="1"/>
          </p:nvPr>
        </p:nvSpPr>
        <p:spPr/>
        <p:txBody>
          <a:body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SG" altLang="en-US"/>
          </a:p>
        </p:txBody>
      </p:sp>
      <p:sp>
        <p:nvSpPr>
          <p:cNvPr id="4" name="日期占位符 3"/>
          <p:cNvSpPr>
            <a:spLocks noGrp="1"/>
          </p:cNvSpPr>
          <p:nvPr>
            <p:ph type="dt" sz="half" idx="10"/>
          </p:nvPr>
        </p:nvSpPr>
        <p:spPr/>
        <p:txBody>
          <a:bodyPr/>
          <a:lstStyle/>
          <a:p>
            <a:fld id="{41BC04DF-DFEB-4A1F-92EA-24DE7E7F9C19}" type="datetimeFigureOut">
              <a:rPr lang="zh-SG" altLang="en-US" smtClean="0"/>
              <a:t>25/10/2025</a:t>
            </a:fld>
            <a:endParaRPr lang="zh-SG" altLang="en-US"/>
          </a:p>
        </p:txBody>
      </p:sp>
      <p:sp>
        <p:nvSpPr>
          <p:cNvPr id="5" name="页脚占位符 4"/>
          <p:cNvSpPr>
            <a:spLocks noGrp="1"/>
          </p:cNvSpPr>
          <p:nvPr>
            <p:ph type="ftr" sz="quarter" idx="11"/>
          </p:nvPr>
        </p:nvSpPr>
        <p:spPr/>
        <p:txBody>
          <a:bodyPr/>
          <a:lstStyle/>
          <a:p>
            <a:endParaRPr lang="zh-SG" altLang="en-US"/>
          </a:p>
        </p:txBody>
      </p:sp>
      <p:sp>
        <p:nvSpPr>
          <p:cNvPr id="6" name="灯片编号占位符 5"/>
          <p:cNvSpPr>
            <a:spLocks noGrp="1"/>
          </p:cNvSpPr>
          <p:nvPr>
            <p:ph type="sldNum" sz="quarter" idx="12"/>
          </p:nvPr>
        </p:nvSpPr>
        <p:spPr/>
        <p:txBody>
          <a:bodyPr/>
          <a:lstStyle/>
          <a:p>
            <a:fld id="{F7A2F459-1B08-436F-815A-EA708C000A5C}" type="slidenum">
              <a:rPr lang="zh-SG" altLang="en-US" smtClean="0"/>
              <a:t>‹#›</a:t>
            </a:fld>
            <a:endParaRPr lang="zh-SG" altLang="en-US"/>
          </a:p>
        </p:txBody>
      </p:sp>
    </p:spTree>
    <p:extLst>
      <p:ext uri="{BB962C8B-B14F-4D97-AF65-F5344CB8AC3E}">
        <p14:creationId xmlns:p14="http://schemas.microsoft.com/office/powerpoint/2010/main" val="358470194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smtClean="0"/>
              <a:t>单击此处编辑母版标题样式</a:t>
            </a:r>
            <a:endParaRPr lang="zh-SG" altLang="en-US"/>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smtClean="0"/>
              <a:t>编辑母版文本样式</a:t>
            </a:r>
          </a:p>
        </p:txBody>
      </p:sp>
      <p:sp>
        <p:nvSpPr>
          <p:cNvPr id="4" name="日期占位符 3"/>
          <p:cNvSpPr>
            <a:spLocks noGrp="1"/>
          </p:cNvSpPr>
          <p:nvPr>
            <p:ph type="dt" sz="half" idx="10"/>
          </p:nvPr>
        </p:nvSpPr>
        <p:spPr/>
        <p:txBody>
          <a:bodyPr/>
          <a:lstStyle/>
          <a:p>
            <a:fld id="{41BC04DF-DFEB-4A1F-92EA-24DE7E7F9C19}" type="datetimeFigureOut">
              <a:rPr lang="zh-SG" altLang="en-US" smtClean="0"/>
              <a:t>25/10/2025</a:t>
            </a:fld>
            <a:endParaRPr lang="zh-SG" altLang="en-US"/>
          </a:p>
        </p:txBody>
      </p:sp>
      <p:sp>
        <p:nvSpPr>
          <p:cNvPr id="5" name="页脚占位符 4"/>
          <p:cNvSpPr>
            <a:spLocks noGrp="1"/>
          </p:cNvSpPr>
          <p:nvPr>
            <p:ph type="ftr" sz="quarter" idx="11"/>
          </p:nvPr>
        </p:nvSpPr>
        <p:spPr/>
        <p:txBody>
          <a:bodyPr/>
          <a:lstStyle/>
          <a:p>
            <a:endParaRPr lang="zh-SG" altLang="en-US"/>
          </a:p>
        </p:txBody>
      </p:sp>
      <p:sp>
        <p:nvSpPr>
          <p:cNvPr id="6" name="灯片编号占位符 5"/>
          <p:cNvSpPr>
            <a:spLocks noGrp="1"/>
          </p:cNvSpPr>
          <p:nvPr>
            <p:ph type="sldNum" sz="quarter" idx="12"/>
          </p:nvPr>
        </p:nvSpPr>
        <p:spPr/>
        <p:txBody>
          <a:bodyPr/>
          <a:lstStyle/>
          <a:p>
            <a:fld id="{F7A2F459-1B08-436F-815A-EA708C000A5C}" type="slidenum">
              <a:rPr lang="zh-SG" altLang="en-US" smtClean="0"/>
              <a:t>‹#›</a:t>
            </a:fld>
            <a:endParaRPr lang="zh-SG" altLang="en-US"/>
          </a:p>
        </p:txBody>
      </p:sp>
    </p:spTree>
    <p:extLst>
      <p:ext uri="{BB962C8B-B14F-4D97-AF65-F5344CB8AC3E}">
        <p14:creationId xmlns:p14="http://schemas.microsoft.com/office/powerpoint/2010/main" val="134238040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SG" altLang="en-US"/>
          </a:p>
        </p:txBody>
      </p:sp>
      <p:sp>
        <p:nvSpPr>
          <p:cNvPr id="3" name="内容占位符 2"/>
          <p:cNvSpPr>
            <a:spLocks noGrp="1"/>
          </p:cNvSpPr>
          <p:nvPr>
            <p:ph sz="half" idx="1"/>
          </p:nvPr>
        </p:nvSpPr>
        <p:spPr>
          <a:xfrm>
            <a:off x="838200" y="1825625"/>
            <a:ext cx="5181600" cy="4351338"/>
          </a:xfrm>
        </p:spPr>
        <p:txBody>
          <a:body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SG" altLang="en-US"/>
          </a:p>
        </p:txBody>
      </p:sp>
      <p:sp>
        <p:nvSpPr>
          <p:cNvPr id="4" name="内容占位符 3"/>
          <p:cNvSpPr>
            <a:spLocks noGrp="1"/>
          </p:cNvSpPr>
          <p:nvPr>
            <p:ph sz="half" idx="2"/>
          </p:nvPr>
        </p:nvSpPr>
        <p:spPr>
          <a:xfrm>
            <a:off x="6172200" y="1825625"/>
            <a:ext cx="5181600" cy="4351338"/>
          </a:xfrm>
        </p:spPr>
        <p:txBody>
          <a:body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SG" altLang="en-US"/>
          </a:p>
        </p:txBody>
      </p:sp>
      <p:sp>
        <p:nvSpPr>
          <p:cNvPr id="5" name="日期占位符 4"/>
          <p:cNvSpPr>
            <a:spLocks noGrp="1"/>
          </p:cNvSpPr>
          <p:nvPr>
            <p:ph type="dt" sz="half" idx="10"/>
          </p:nvPr>
        </p:nvSpPr>
        <p:spPr/>
        <p:txBody>
          <a:bodyPr/>
          <a:lstStyle/>
          <a:p>
            <a:fld id="{41BC04DF-DFEB-4A1F-92EA-24DE7E7F9C19}" type="datetimeFigureOut">
              <a:rPr lang="zh-SG" altLang="en-US" smtClean="0"/>
              <a:t>25/10/2025</a:t>
            </a:fld>
            <a:endParaRPr lang="zh-SG" altLang="en-US"/>
          </a:p>
        </p:txBody>
      </p:sp>
      <p:sp>
        <p:nvSpPr>
          <p:cNvPr id="6" name="页脚占位符 5"/>
          <p:cNvSpPr>
            <a:spLocks noGrp="1"/>
          </p:cNvSpPr>
          <p:nvPr>
            <p:ph type="ftr" sz="quarter" idx="11"/>
          </p:nvPr>
        </p:nvSpPr>
        <p:spPr/>
        <p:txBody>
          <a:bodyPr/>
          <a:lstStyle/>
          <a:p>
            <a:endParaRPr lang="zh-SG" altLang="en-US"/>
          </a:p>
        </p:txBody>
      </p:sp>
      <p:sp>
        <p:nvSpPr>
          <p:cNvPr id="7" name="灯片编号占位符 6"/>
          <p:cNvSpPr>
            <a:spLocks noGrp="1"/>
          </p:cNvSpPr>
          <p:nvPr>
            <p:ph type="sldNum" sz="quarter" idx="12"/>
          </p:nvPr>
        </p:nvSpPr>
        <p:spPr/>
        <p:txBody>
          <a:bodyPr/>
          <a:lstStyle/>
          <a:p>
            <a:fld id="{F7A2F459-1B08-436F-815A-EA708C000A5C}" type="slidenum">
              <a:rPr lang="zh-SG" altLang="en-US" smtClean="0"/>
              <a:t>‹#›</a:t>
            </a:fld>
            <a:endParaRPr lang="zh-SG" altLang="en-US"/>
          </a:p>
        </p:txBody>
      </p:sp>
    </p:spTree>
    <p:extLst>
      <p:ext uri="{BB962C8B-B14F-4D97-AF65-F5344CB8AC3E}">
        <p14:creationId xmlns:p14="http://schemas.microsoft.com/office/powerpoint/2010/main" val="296939327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smtClean="0"/>
              <a:t>单击此处编辑母版标题样式</a:t>
            </a:r>
            <a:endParaRPr lang="zh-SG" altLang="en-US"/>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编辑母版文本样式</a:t>
            </a:r>
          </a:p>
        </p:txBody>
      </p:sp>
      <p:sp>
        <p:nvSpPr>
          <p:cNvPr id="4" name="内容占位符 3"/>
          <p:cNvSpPr>
            <a:spLocks noGrp="1"/>
          </p:cNvSpPr>
          <p:nvPr>
            <p:ph sz="half" idx="2"/>
          </p:nvPr>
        </p:nvSpPr>
        <p:spPr>
          <a:xfrm>
            <a:off x="839788" y="2505075"/>
            <a:ext cx="5157787" cy="3684588"/>
          </a:xfrm>
        </p:spPr>
        <p:txBody>
          <a:body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SG" altLang="en-US"/>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编辑母版文本样式</a:t>
            </a:r>
          </a:p>
        </p:txBody>
      </p:sp>
      <p:sp>
        <p:nvSpPr>
          <p:cNvPr id="6" name="内容占位符 5"/>
          <p:cNvSpPr>
            <a:spLocks noGrp="1"/>
          </p:cNvSpPr>
          <p:nvPr>
            <p:ph sz="quarter" idx="4"/>
          </p:nvPr>
        </p:nvSpPr>
        <p:spPr>
          <a:xfrm>
            <a:off x="6172200" y="2505075"/>
            <a:ext cx="5183188" cy="3684588"/>
          </a:xfrm>
        </p:spPr>
        <p:txBody>
          <a:body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SG" altLang="en-US"/>
          </a:p>
        </p:txBody>
      </p:sp>
      <p:sp>
        <p:nvSpPr>
          <p:cNvPr id="7" name="日期占位符 6"/>
          <p:cNvSpPr>
            <a:spLocks noGrp="1"/>
          </p:cNvSpPr>
          <p:nvPr>
            <p:ph type="dt" sz="half" idx="10"/>
          </p:nvPr>
        </p:nvSpPr>
        <p:spPr/>
        <p:txBody>
          <a:bodyPr/>
          <a:lstStyle/>
          <a:p>
            <a:fld id="{41BC04DF-DFEB-4A1F-92EA-24DE7E7F9C19}" type="datetimeFigureOut">
              <a:rPr lang="zh-SG" altLang="en-US" smtClean="0"/>
              <a:t>25/10/2025</a:t>
            </a:fld>
            <a:endParaRPr lang="zh-SG" altLang="en-US"/>
          </a:p>
        </p:txBody>
      </p:sp>
      <p:sp>
        <p:nvSpPr>
          <p:cNvPr id="8" name="页脚占位符 7"/>
          <p:cNvSpPr>
            <a:spLocks noGrp="1"/>
          </p:cNvSpPr>
          <p:nvPr>
            <p:ph type="ftr" sz="quarter" idx="11"/>
          </p:nvPr>
        </p:nvSpPr>
        <p:spPr/>
        <p:txBody>
          <a:bodyPr/>
          <a:lstStyle/>
          <a:p>
            <a:endParaRPr lang="zh-SG" altLang="en-US"/>
          </a:p>
        </p:txBody>
      </p:sp>
      <p:sp>
        <p:nvSpPr>
          <p:cNvPr id="9" name="灯片编号占位符 8"/>
          <p:cNvSpPr>
            <a:spLocks noGrp="1"/>
          </p:cNvSpPr>
          <p:nvPr>
            <p:ph type="sldNum" sz="quarter" idx="12"/>
          </p:nvPr>
        </p:nvSpPr>
        <p:spPr/>
        <p:txBody>
          <a:bodyPr/>
          <a:lstStyle/>
          <a:p>
            <a:fld id="{F7A2F459-1B08-436F-815A-EA708C000A5C}" type="slidenum">
              <a:rPr lang="zh-SG" altLang="en-US" smtClean="0"/>
              <a:t>‹#›</a:t>
            </a:fld>
            <a:endParaRPr lang="zh-SG" altLang="en-US"/>
          </a:p>
        </p:txBody>
      </p:sp>
    </p:spTree>
    <p:extLst>
      <p:ext uri="{BB962C8B-B14F-4D97-AF65-F5344CB8AC3E}">
        <p14:creationId xmlns:p14="http://schemas.microsoft.com/office/powerpoint/2010/main" val="231554684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SG" altLang="en-US"/>
          </a:p>
        </p:txBody>
      </p:sp>
      <p:sp>
        <p:nvSpPr>
          <p:cNvPr id="3" name="日期占位符 2"/>
          <p:cNvSpPr>
            <a:spLocks noGrp="1"/>
          </p:cNvSpPr>
          <p:nvPr>
            <p:ph type="dt" sz="half" idx="10"/>
          </p:nvPr>
        </p:nvSpPr>
        <p:spPr/>
        <p:txBody>
          <a:bodyPr/>
          <a:lstStyle/>
          <a:p>
            <a:fld id="{41BC04DF-DFEB-4A1F-92EA-24DE7E7F9C19}" type="datetimeFigureOut">
              <a:rPr lang="zh-SG" altLang="en-US" smtClean="0"/>
              <a:t>25/10/2025</a:t>
            </a:fld>
            <a:endParaRPr lang="zh-SG" altLang="en-US"/>
          </a:p>
        </p:txBody>
      </p:sp>
      <p:sp>
        <p:nvSpPr>
          <p:cNvPr id="4" name="页脚占位符 3"/>
          <p:cNvSpPr>
            <a:spLocks noGrp="1"/>
          </p:cNvSpPr>
          <p:nvPr>
            <p:ph type="ftr" sz="quarter" idx="11"/>
          </p:nvPr>
        </p:nvSpPr>
        <p:spPr/>
        <p:txBody>
          <a:bodyPr/>
          <a:lstStyle/>
          <a:p>
            <a:endParaRPr lang="zh-SG" altLang="en-US"/>
          </a:p>
        </p:txBody>
      </p:sp>
      <p:sp>
        <p:nvSpPr>
          <p:cNvPr id="5" name="灯片编号占位符 4"/>
          <p:cNvSpPr>
            <a:spLocks noGrp="1"/>
          </p:cNvSpPr>
          <p:nvPr>
            <p:ph type="sldNum" sz="quarter" idx="12"/>
          </p:nvPr>
        </p:nvSpPr>
        <p:spPr/>
        <p:txBody>
          <a:bodyPr/>
          <a:lstStyle/>
          <a:p>
            <a:fld id="{F7A2F459-1B08-436F-815A-EA708C000A5C}" type="slidenum">
              <a:rPr lang="zh-SG" altLang="en-US" smtClean="0"/>
              <a:t>‹#›</a:t>
            </a:fld>
            <a:endParaRPr lang="zh-SG" altLang="en-US"/>
          </a:p>
        </p:txBody>
      </p:sp>
    </p:spTree>
    <p:extLst>
      <p:ext uri="{BB962C8B-B14F-4D97-AF65-F5344CB8AC3E}">
        <p14:creationId xmlns:p14="http://schemas.microsoft.com/office/powerpoint/2010/main" val="177555324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41BC04DF-DFEB-4A1F-92EA-24DE7E7F9C19}" type="datetimeFigureOut">
              <a:rPr lang="zh-SG" altLang="en-US" smtClean="0"/>
              <a:t>25/10/2025</a:t>
            </a:fld>
            <a:endParaRPr lang="zh-SG" altLang="en-US"/>
          </a:p>
        </p:txBody>
      </p:sp>
      <p:sp>
        <p:nvSpPr>
          <p:cNvPr id="3" name="页脚占位符 2"/>
          <p:cNvSpPr>
            <a:spLocks noGrp="1"/>
          </p:cNvSpPr>
          <p:nvPr>
            <p:ph type="ftr" sz="quarter" idx="11"/>
          </p:nvPr>
        </p:nvSpPr>
        <p:spPr/>
        <p:txBody>
          <a:bodyPr/>
          <a:lstStyle/>
          <a:p>
            <a:endParaRPr lang="zh-SG" altLang="en-US"/>
          </a:p>
        </p:txBody>
      </p:sp>
      <p:sp>
        <p:nvSpPr>
          <p:cNvPr id="4" name="灯片编号占位符 3"/>
          <p:cNvSpPr>
            <a:spLocks noGrp="1"/>
          </p:cNvSpPr>
          <p:nvPr>
            <p:ph type="sldNum" sz="quarter" idx="12"/>
          </p:nvPr>
        </p:nvSpPr>
        <p:spPr/>
        <p:txBody>
          <a:bodyPr/>
          <a:lstStyle/>
          <a:p>
            <a:fld id="{F7A2F459-1B08-436F-815A-EA708C000A5C}" type="slidenum">
              <a:rPr lang="zh-SG" altLang="en-US" smtClean="0"/>
              <a:t>‹#›</a:t>
            </a:fld>
            <a:endParaRPr lang="zh-SG" altLang="en-US"/>
          </a:p>
        </p:txBody>
      </p:sp>
    </p:spTree>
    <p:extLst>
      <p:ext uri="{BB962C8B-B14F-4D97-AF65-F5344CB8AC3E}">
        <p14:creationId xmlns:p14="http://schemas.microsoft.com/office/powerpoint/2010/main" val="1565783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smtClean="0"/>
              <a:t>单击此处编辑母版标题样式</a:t>
            </a:r>
            <a:endParaRPr lang="zh-SG" altLang="en-US"/>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SG"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smtClean="0"/>
              <a:t>编辑母版文本样式</a:t>
            </a:r>
          </a:p>
        </p:txBody>
      </p:sp>
      <p:sp>
        <p:nvSpPr>
          <p:cNvPr id="5" name="日期占位符 4"/>
          <p:cNvSpPr>
            <a:spLocks noGrp="1"/>
          </p:cNvSpPr>
          <p:nvPr>
            <p:ph type="dt" sz="half" idx="10"/>
          </p:nvPr>
        </p:nvSpPr>
        <p:spPr/>
        <p:txBody>
          <a:bodyPr/>
          <a:lstStyle/>
          <a:p>
            <a:fld id="{41BC04DF-DFEB-4A1F-92EA-24DE7E7F9C19}" type="datetimeFigureOut">
              <a:rPr lang="zh-SG" altLang="en-US" smtClean="0"/>
              <a:t>25/10/2025</a:t>
            </a:fld>
            <a:endParaRPr lang="zh-SG" altLang="en-US"/>
          </a:p>
        </p:txBody>
      </p:sp>
      <p:sp>
        <p:nvSpPr>
          <p:cNvPr id="6" name="页脚占位符 5"/>
          <p:cNvSpPr>
            <a:spLocks noGrp="1"/>
          </p:cNvSpPr>
          <p:nvPr>
            <p:ph type="ftr" sz="quarter" idx="11"/>
          </p:nvPr>
        </p:nvSpPr>
        <p:spPr/>
        <p:txBody>
          <a:bodyPr/>
          <a:lstStyle/>
          <a:p>
            <a:endParaRPr lang="zh-SG" altLang="en-US"/>
          </a:p>
        </p:txBody>
      </p:sp>
      <p:sp>
        <p:nvSpPr>
          <p:cNvPr id="7" name="灯片编号占位符 6"/>
          <p:cNvSpPr>
            <a:spLocks noGrp="1"/>
          </p:cNvSpPr>
          <p:nvPr>
            <p:ph type="sldNum" sz="quarter" idx="12"/>
          </p:nvPr>
        </p:nvSpPr>
        <p:spPr/>
        <p:txBody>
          <a:bodyPr/>
          <a:lstStyle/>
          <a:p>
            <a:fld id="{F7A2F459-1B08-436F-815A-EA708C000A5C}" type="slidenum">
              <a:rPr lang="zh-SG" altLang="en-US" smtClean="0"/>
              <a:t>‹#›</a:t>
            </a:fld>
            <a:endParaRPr lang="zh-SG" altLang="en-US"/>
          </a:p>
        </p:txBody>
      </p:sp>
    </p:spTree>
    <p:extLst>
      <p:ext uri="{BB962C8B-B14F-4D97-AF65-F5344CB8AC3E}">
        <p14:creationId xmlns:p14="http://schemas.microsoft.com/office/powerpoint/2010/main" val="365560512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smtClean="0"/>
              <a:t>单击此处编辑母版标题样式</a:t>
            </a:r>
            <a:endParaRPr lang="zh-SG" altLang="en-US"/>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SG"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smtClean="0"/>
              <a:t>编辑母版文本样式</a:t>
            </a:r>
          </a:p>
        </p:txBody>
      </p:sp>
      <p:sp>
        <p:nvSpPr>
          <p:cNvPr id="5" name="日期占位符 4"/>
          <p:cNvSpPr>
            <a:spLocks noGrp="1"/>
          </p:cNvSpPr>
          <p:nvPr>
            <p:ph type="dt" sz="half" idx="10"/>
          </p:nvPr>
        </p:nvSpPr>
        <p:spPr/>
        <p:txBody>
          <a:bodyPr/>
          <a:lstStyle/>
          <a:p>
            <a:fld id="{41BC04DF-DFEB-4A1F-92EA-24DE7E7F9C19}" type="datetimeFigureOut">
              <a:rPr lang="zh-SG" altLang="en-US" smtClean="0"/>
              <a:t>25/10/2025</a:t>
            </a:fld>
            <a:endParaRPr lang="zh-SG" altLang="en-US"/>
          </a:p>
        </p:txBody>
      </p:sp>
      <p:sp>
        <p:nvSpPr>
          <p:cNvPr id="6" name="页脚占位符 5"/>
          <p:cNvSpPr>
            <a:spLocks noGrp="1"/>
          </p:cNvSpPr>
          <p:nvPr>
            <p:ph type="ftr" sz="quarter" idx="11"/>
          </p:nvPr>
        </p:nvSpPr>
        <p:spPr/>
        <p:txBody>
          <a:bodyPr/>
          <a:lstStyle/>
          <a:p>
            <a:endParaRPr lang="zh-SG" altLang="en-US"/>
          </a:p>
        </p:txBody>
      </p:sp>
      <p:sp>
        <p:nvSpPr>
          <p:cNvPr id="7" name="灯片编号占位符 6"/>
          <p:cNvSpPr>
            <a:spLocks noGrp="1"/>
          </p:cNvSpPr>
          <p:nvPr>
            <p:ph type="sldNum" sz="quarter" idx="12"/>
          </p:nvPr>
        </p:nvSpPr>
        <p:spPr/>
        <p:txBody>
          <a:bodyPr/>
          <a:lstStyle/>
          <a:p>
            <a:fld id="{F7A2F459-1B08-436F-815A-EA708C000A5C}" type="slidenum">
              <a:rPr lang="zh-SG" altLang="en-US" smtClean="0"/>
              <a:t>‹#›</a:t>
            </a:fld>
            <a:endParaRPr lang="zh-SG" altLang="en-US"/>
          </a:p>
        </p:txBody>
      </p:sp>
    </p:spTree>
    <p:extLst>
      <p:ext uri="{BB962C8B-B14F-4D97-AF65-F5344CB8AC3E}">
        <p14:creationId xmlns:p14="http://schemas.microsoft.com/office/powerpoint/2010/main" val="95721614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SG" altLang="en-US"/>
          </a:p>
        </p:txBody>
      </p:sp>
      <p:sp>
        <p:nvSpPr>
          <p:cNvPr id="3" name="竖排文字占位符 2"/>
          <p:cNvSpPr>
            <a:spLocks noGrp="1"/>
          </p:cNvSpPr>
          <p:nvPr>
            <p:ph type="body" orient="vert" idx="1"/>
          </p:nvPr>
        </p:nvSpPr>
        <p:spPr/>
        <p:txBody>
          <a:bodyPr vert="eaVert"/>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SG" altLang="en-US"/>
          </a:p>
        </p:txBody>
      </p:sp>
      <p:sp>
        <p:nvSpPr>
          <p:cNvPr id="4" name="日期占位符 3"/>
          <p:cNvSpPr>
            <a:spLocks noGrp="1"/>
          </p:cNvSpPr>
          <p:nvPr>
            <p:ph type="dt" sz="half" idx="10"/>
          </p:nvPr>
        </p:nvSpPr>
        <p:spPr/>
        <p:txBody>
          <a:bodyPr/>
          <a:lstStyle/>
          <a:p>
            <a:fld id="{41BC04DF-DFEB-4A1F-92EA-24DE7E7F9C19}" type="datetimeFigureOut">
              <a:rPr lang="zh-SG" altLang="en-US" smtClean="0"/>
              <a:t>25/10/2025</a:t>
            </a:fld>
            <a:endParaRPr lang="zh-SG" altLang="en-US"/>
          </a:p>
        </p:txBody>
      </p:sp>
      <p:sp>
        <p:nvSpPr>
          <p:cNvPr id="5" name="页脚占位符 4"/>
          <p:cNvSpPr>
            <a:spLocks noGrp="1"/>
          </p:cNvSpPr>
          <p:nvPr>
            <p:ph type="ftr" sz="quarter" idx="11"/>
          </p:nvPr>
        </p:nvSpPr>
        <p:spPr/>
        <p:txBody>
          <a:bodyPr/>
          <a:lstStyle/>
          <a:p>
            <a:endParaRPr lang="zh-SG" altLang="en-US"/>
          </a:p>
        </p:txBody>
      </p:sp>
      <p:sp>
        <p:nvSpPr>
          <p:cNvPr id="6" name="灯片编号占位符 5"/>
          <p:cNvSpPr>
            <a:spLocks noGrp="1"/>
          </p:cNvSpPr>
          <p:nvPr>
            <p:ph type="sldNum" sz="quarter" idx="12"/>
          </p:nvPr>
        </p:nvSpPr>
        <p:spPr/>
        <p:txBody>
          <a:bodyPr/>
          <a:lstStyle/>
          <a:p>
            <a:fld id="{F7A2F459-1B08-436F-815A-EA708C000A5C}" type="slidenum">
              <a:rPr lang="zh-SG" altLang="en-US" smtClean="0"/>
              <a:t>‹#›</a:t>
            </a:fld>
            <a:endParaRPr lang="zh-SG" altLang="en-US"/>
          </a:p>
        </p:txBody>
      </p:sp>
    </p:spTree>
    <p:extLst>
      <p:ext uri="{BB962C8B-B14F-4D97-AF65-F5344CB8AC3E}">
        <p14:creationId xmlns:p14="http://schemas.microsoft.com/office/powerpoint/2010/main" val="172246035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smtClean="0"/>
              <a:t>单击此处编辑母版标题样式</a:t>
            </a:r>
            <a:endParaRPr lang="zh-SG" altLang="en-US"/>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SG" altLang="en-US"/>
          </a:p>
        </p:txBody>
      </p:sp>
      <p:sp>
        <p:nvSpPr>
          <p:cNvPr id="4" name="日期占位符 3"/>
          <p:cNvSpPr>
            <a:spLocks noGrp="1"/>
          </p:cNvSpPr>
          <p:nvPr>
            <p:ph type="dt" sz="half" idx="10"/>
          </p:nvPr>
        </p:nvSpPr>
        <p:spPr/>
        <p:txBody>
          <a:bodyPr/>
          <a:lstStyle/>
          <a:p>
            <a:fld id="{41BC04DF-DFEB-4A1F-92EA-24DE7E7F9C19}" type="datetimeFigureOut">
              <a:rPr lang="zh-SG" altLang="en-US" smtClean="0"/>
              <a:t>25/10/2025</a:t>
            </a:fld>
            <a:endParaRPr lang="zh-SG" altLang="en-US"/>
          </a:p>
        </p:txBody>
      </p:sp>
      <p:sp>
        <p:nvSpPr>
          <p:cNvPr id="5" name="页脚占位符 4"/>
          <p:cNvSpPr>
            <a:spLocks noGrp="1"/>
          </p:cNvSpPr>
          <p:nvPr>
            <p:ph type="ftr" sz="quarter" idx="11"/>
          </p:nvPr>
        </p:nvSpPr>
        <p:spPr/>
        <p:txBody>
          <a:bodyPr/>
          <a:lstStyle/>
          <a:p>
            <a:endParaRPr lang="zh-SG" altLang="en-US"/>
          </a:p>
        </p:txBody>
      </p:sp>
      <p:sp>
        <p:nvSpPr>
          <p:cNvPr id="6" name="灯片编号占位符 5"/>
          <p:cNvSpPr>
            <a:spLocks noGrp="1"/>
          </p:cNvSpPr>
          <p:nvPr>
            <p:ph type="sldNum" sz="quarter" idx="12"/>
          </p:nvPr>
        </p:nvSpPr>
        <p:spPr/>
        <p:txBody>
          <a:bodyPr/>
          <a:lstStyle/>
          <a:p>
            <a:fld id="{F7A2F459-1B08-436F-815A-EA708C000A5C}" type="slidenum">
              <a:rPr lang="zh-SG" altLang="en-US" smtClean="0"/>
              <a:t>‹#›</a:t>
            </a:fld>
            <a:endParaRPr lang="zh-SG" altLang="en-US"/>
          </a:p>
        </p:txBody>
      </p:sp>
    </p:spTree>
    <p:extLst>
      <p:ext uri="{BB962C8B-B14F-4D97-AF65-F5344CB8AC3E}">
        <p14:creationId xmlns:p14="http://schemas.microsoft.com/office/powerpoint/2010/main" val="361656532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smtClean="0"/>
              <a:t>单击此处编辑母版标题样式</a:t>
            </a:r>
            <a:endParaRPr lang="zh-SG" altLang="en-US"/>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SG" altLang="en-US"/>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1BC04DF-DFEB-4A1F-92EA-24DE7E7F9C19}" type="datetimeFigureOut">
              <a:rPr lang="zh-SG" altLang="en-US" smtClean="0"/>
              <a:t>25/10/2025</a:t>
            </a:fld>
            <a:endParaRPr lang="zh-SG"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SG"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7A2F459-1B08-436F-815A-EA708C000A5C}" type="slidenum">
              <a:rPr lang="zh-SG" altLang="en-US" smtClean="0"/>
              <a:t>‹#›</a:t>
            </a:fld>
            <a:endParaRPr lang="zh-SG" altLang="en-US"/>
          </a:p>
        </p:txBody>
      </p:sp>
    </p:spTree>
    <p:extLst>
      <p:ext uri="{BB962C8B-B14F-4D97-AF65-F5344CB8AC3E}">
        <p14:creationId xmlns:p14="http://schemas.microsoft.com/office/powerpoint/2010/main" val="392569968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SG"/>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2.xml"/><Relationship Id="rId5" Type="http://schemas.openxmlformats.org/officeDocument/2006/relationships/image" Target="http://www.scc-mg.com/sites/all/themes/scc/images/provem_result.png" TargetMode="External"/><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4.xml"/><Relationship Id="rId4" Type="http://schemas.openxmlformats.org/officeDocument/2006/relationships/image" Target="../media/image6.png"/></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12.xml"/><Relationship Id="rId1" Type="http://schemas.openxmlformats.org/officeDocument/2006/relationships/slideLayout" Target="../slideLayouts/slideLayout2.xml"/><Relationship Id="rId4" Type="http://schemas.openxmlformats.org/officeDocument/2006/relationships/image" Target="../media/image12.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5" name="Rectangle 3"/>
          <p:cNvSpPr>
            <a:spLocks noGrp="1" noChangeArrowheads="1"/>
          </p:cNvSpPr>
          <p:nvPr>
            <p:ph type="title"/>
          </p:nvPr>
        </p:nvSpPr>
        <p:spPr>
          <a:xfrm>
            <a:off x="1551709" y="395468"/>
            <a:ext cx="9144000" cy="830997"/>
          </a:xfrm>
        </p:spPr>
        <p:txBody>
          <a:bodyPr>
            <a:noAutofit/>
          </a:bodyPr>
          <a:lstStyle/>
          <a:p>
            <a:pPr algn="ctr"/>
            <a:r>
              <a:rPr lang="en-US" altLang="ko-KR" sz="3600" b="1" dirty="0" smtClean="0">
                <a:ea typeface="굴림" pitchFamily="34" charset="-127"/>
              </a:rPr>
              <a:t>Stakeholder Centered Coaching</a:t>
            </a:r>
            <a:r>
              <a:rPr lang="en-US" altLang="ko-KR" sz="3600" b="1" dirty="0" smtClean="0">
                <a:ea typeface="굴림" pitchFamily="34" charset="-127"/>
                <a:cs typeface="Arial" pitchFamily="34" charset="0"/>
              </a:rPr>
              <a:t/>
            </a:r>
            <a:br>
              <a:rPr lang="en-US" altLang="ko-KR" sz="3600" b="1" dirty="0" smtClean="0">
                <a:ea typeface="굴림" pitchFamily="34" charset="-127"/>
                <a:cs typeface="Arial" pitchFamily="34" charset="0"/>
              </a:rPr>
            </a:br>
            <a:r>
              <a:rPr lang="en-US" altLang="ko-KR" sz="3600" b="1" dirty="0" smtClean="0">
                <a:ea typeface="굴림" pitchFamily="34" charset="-127"/>
                <a:cs typeface="Arial" pitchFamily="34" charset="0"/>
              </a:rPr>
              <a:t>for </a:t>
            </a:r>
            <a:r>
              <a:rPr lang="en-US" altLang="ko-KR" sz="3600" b="1" dirty="0" smtClean="0">
                <a:ea typeface="굴림" pitchFamily="34" charset="-127"/>
              </a:rPr>
              <a:t>Guaranteed &amp; Measurable Leadership Growth </a:t>
            </a:r>
            <a:endParaRPr lang="en-US" altLang="ko-KR" sz="3600" b="1" dirty="0" smtClean="0">
              <a:ea typeface="굴림" pitchFamily="34" charset="-127"/>
              <a:cs typeface="Arial" pitchFamily="34" charset="0"/>
            </a:endParaRPr>
          </a:p>
        </p:txBody>
      </p:sp>
      <p:sp>
        <p:nvSpPr>
          <p:cNvPr id="1940484" name="Rectangle 4"/>
          <p:cNvSpPr>
            <a:spLocks noGrp="1" noChangeArrowheads="1"/>
          </p:cNvSpPr>
          <p:nvPr>
            <p:ph idx="1"/>
          </p:nvPr>
        </p:nvSpPr>
        <p:spPr>
          <a:xfrm>
            <a:off x="1789810" y="1499854"/>
            <a:ext cx="7289536" cy="4468916"/>
          </a:xfrm>
        </p:spPr>
        <p:txBody>
          <a:bodyPr>
            <a:normAutofit fontScale="92500" lnSpcReduction="10000"/>
          </a:bodyPr>
          <a:lstStyle/>
          <a:p>
            <a:pPr>
              <a:lnSpc>
                <a:spcPct val="180000"/>
              </a:lnSpc>
              <a:buFont typeface="Wingdings" pitchFamily="2" charset="2"/>
              <a:buNone/>
            </a:pPr>
            <a:r>
              <a:rPr lang="en-US" altLang="ko-KR" sz="1800" dirty="0">
                <a:ea typeface="굴림" pitchFamily="34" charset="-127"/>
              </a:rPr>
              <a:t>The major </a:t>
            </a:r>
            <a:r>
              <a:rPr lang="en-US" altLang="ko-KR" sz="1800" u="sng" dirty="0">
                <a:ea typeface="굴림" pitchFamily="34" charset="-127"/>
              </a:rPr>
              <a:t>challenge</a:t>
            </a:r>
            <a:r>
              <a:rPr lang="en-US" altLang="ko-KR" sz="1800" dirty="0">
                <a:ea typeface="굴림" pitchFamily="34" charset="-127"/>
              </a:rPr>
              <a:t> faced by executives today:</a:t>
            </a:r>
          </a:p>
          <a:p>
            <a:pPr>
              <a:lnSpc>
                <a:spcPct val="180000"/>
              </a:lnSpc>
              <a:buFont typeface="Wingdings" pitchFamily="2" charset="2"/>
              <a:buChar char="Ø"/>
            </a:pPr>
            <a:r>
              <a:rPr lang="en-US" altLang="ko-KR" sz="1800" dirty="0">
                <a:ea typeface="굴림" pitchFamily="34" charset="-127"/>
              </a:rPr>
              <a:t>NOT </a:t>
            </a:r>
            <a:r>
              <a:rPr lang="en-US" altLang="ko-KR" sz="1800" u="sng" dirty="0">
                <a:ea typeface="굴림" pitchFamily="34" charset="-127"/>
              </a:rPr>
              <a:t>understanding</a:t>
            </a:r>
            <a:r>
              <a:rPr lang="en-US" altLang="ko-KR" sz="1800" dirty="0">
                <a:ea typeface="굴림" pitchFamily="34" charset="-127"/>
              </a:rPr>
              <a:t> the practice of leadership (KNOW HOW)</a:t>
            </a:r>
          </a:p>
          <a:p>
            <a:pPr>
              <a:lnSpc>
                <a:spcPct val="180000"/>
              </a:lnSpc>
              <a:buFont typeface="Wingdings" pitchFamily="2" charset="2"/>
              <a:buChar char="Ø"/>
            </a:pPr>
            <a:r>
              <a:rPr lang="en-US" altLang="ko-KR" sz="1800" dirty="0">
                <a:ea typeface="굴림" pitchFamily="34" charset="-127"/>
              </a:rPr>
              <a:t>BUT </a:t>
            </a:r>
            <a:r>
              <a:rPr lang="en-US" altLang="ko-KR" sz="1800" u="sng" dirty="0">
                <a:ea typeface="굴림" pitchFamily="34" charset="-127"/>
              </a:rPr>
              <a:t>practicing</a:t>
            </a:r>
            <a:r>
              <a:rPr lang="en-US" altLang="ko-KR" sz="1800" dirty="0">
                <a:ea typeface="굴림" pitchFamily="34" charset="-127"/>
              </a:rPr>
              <a:t> their understanding of leadership (SHOW HOW)</a:t>
            </a:r>
          </a:p>
          <a:p>
            <a:pPr>
              <a:lnSpc>
                <a:spcPct val="180000"/>
              </a:lnSpc>
              <a:buFont typeface="Wingdings" pitchFamily="2" charset="2"/>
              <a:buNone/>
            </a:pPr>
            <a:endParaRPr lang="en-US" altLang="ko-KR" sz="1800" dirty="0">
              <a:ea typeface="굴림" pitchFamily="34" charset="-127"/>
            </a:endParaRPr>
          </a:p>
          <a:p>
            <a:pPr>
              <a:lnSpc>
                <a:spcPct val="180000"/>
              </a:lnSpc>
              <a:buNone/>
            </a:pPr>
            <a:r>
              <a:rPr lang="en-US" altLang="ko-KR" sz="1800" dirty="0" smtClean="0">
                <a:ea typeface="굴림" pitchFamily="34" charset="-127"/>
              </a:rPr>
              <a:t>Stakeholder </a:t>
            </a:r>
            <a:r>
              <a:rPr lang="en-US" altLang="ko-KR" sz="1800" dirty="0">
                <a:ea typeface="굴림" pitchFamily="34" charset="-127"/>
              </a:rPr>
              <a:t>Centered Coaching </a:t>
            </a:r>
            <a:r>
              <a:rPr lang="en-US" altLang="ko-KR" sz="1800" dirty="0" smtClean="0">
                <a:ea typeface="굴림" pitchFamily="34" charset="-127"/>
              </a:rPr>
              <a:t>(SCC</a:t>
            </a:r>
            <a:r>
              <a:rPr lang="en-US" altLang="ko-KR" sz="1800" dirty="0">
                <a:ea typeface="굴림" pitchFamily="34" charset="-127"/>
              </a:rPr>
              <a:t>): </a:t>
            </a:r>
          </a:p>
          <a:p>
            <a:pPr>
              <a:lnSpc>
                <a:spcPct val="180000"/>
              </a:lnSpc>
              <a:buFont typeface="Wingdings" pitchFamily="2" charset="2"/>
              <a:buChar char="Ø"/>
            </a:pPr>
            <a:r>
              <a:rPr lang="en-US" altLang="ko-KR" sz="1800" dirty="0">
                <a:ea typeface="굴림" pitchFamily="34" charset="-127"/>
              </a:rPr>
              <a:t>Enables successful leaders to achieve </a:t>
            </a:r>
            <a:r>
              <a:rPr lang="en-US" altLang="ko-KR" sz="1800" dirty="0" smtClean="0">
                <a:ea typeface="굴림" pitchFamily="34" charset="-127"/>
              </a:rPr>
              <a:t>positive </a:t>
            </a:r>
            <a:r>
              <a:rPr lang="en-US" altLang="ko-KR" sz="1800" dirty="0">
                <a:ea typeface="굴림" pitchFamily="34" charset="-127"/>
              </a:rPr>
              <a:t>&amp; </a:t>
            </a:r>
            <a:r>
              <a:rPr lang="en-US" altLang="ko-KR" sz="1800" dirty="0" smtClean="0">
                <a:ea typeface="굴림" pitchFamily="34" charset="-127"/>
              </a:rPr>
              <a:t/>
            </a:r>
            <a:br>
              <a:rPr lang="en-US" altLang="ko-KR" sz="1800" dirty="0" smtClean="0">
                <a:ea typeface="굴림" pitchFamily="34" charset="-127"/>
              </a:rPr>
            </a:br>
            <a:r>
              <a:rPr lang="en-US" altLang="ko-KR" sz="1800" u="sng" dirty="0" smtClean="0">
                <a:ea typeface="굴림" pitchFamily="34" charset="-127"/>
              </a:rPr>
              <a:t>measurable </a:t>
            </a:r>
            <a:r>
              <a:rPr lang="en-US" altLang="ko-KR" sz="1800" u="sng" dirty="0">
                <a:ea typeface="굴림" pitchFamily="34" charset="-127"/>
              </a:rPr>
              <a:t>change in leadership behavior</a:t>
            </a:r>
          </a:p>
          <a:p>
            <a:pPr>
              <a:lnSpc>
                <a:spcPct val="180000"/>
              </a:lnSpc>
              <a:buFont typeface="Wingdings" pitchFamily="2" charset="2"/>
              <a:buChar char="Ø"/>
            </a:pPr>
            <a:r>
              <a:rPr lang="en-US" altLang="ko-KR" sz="1800" dirty="0">
                <a:ea typeface="굴림" pitchFamily="34" charset="-127"/>
              </a:rPr>
              <a:t>Is a </a:t>
            </a:r>
            <a:r>
              <a:rPr lang="en-US" altLang="ko-KR" sz="1800" u="sng" dirty="0">
                <a:ea typeface="굴림" pitchFamily="34" charset="-127"/>
              </a:rPr>
              <a:t>system for continuous improvement</a:t>
            </a:r>
            <a:r>
              <a:rPr lang="en-US" altLang="ko-KR" sz="1800" dirty="0">
                <a:ea typeface="굴림" pitchFamily="34" charset="-127"/>
              </a:rPr>
              <a:t> for themselves and their teams</a:t>
            </a:r>
            <a:endParaRPr lang="en-US" altLang="ko-KR" sz="1800" i="1" dirty="0">
              <a:ea typeface="굴림" pitchFamily="34" charset="-127"/>
            </a:endParaRPr>
          </a:p>
        </p:txBody>
      </p:sp>
      <p:pic>
        <p:nvPicPr>
          <p:cNvPr id="20487" name="Picture 5" descr="busines performance 56788"/>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l="7106" r="8848"/>
          <a:stretch/>
        </p:blipFill>
        <p:spPr bwMode="auto">
          <a:xfrm>
            <a:off x="9283210" y="1788152"/>
            <a:ext cx="2406608" cy="3393448"/>
          </a:xfrm>
          <a:prstGeom prst="rect">
            <a:avLst/>
          </a:prstGeom>
          <a:noFill/>
          <a:ln w="9525">
            <a:noFill/>
            <a:miter lim="800000"/>
            <a:headEnd/>
            <a:tailEnd/>
          </a:ln>
        </p:spPr>
      </p:pic>
    </p:spTree>
    <p:extLst>
      <p:ext uri="{BB962C8B-B14F-4D97-AF65-F5344CB8AC3E}">
        <p14:creationId xmlns:p14="http://schemas.microsoft.com/office/powerpoint/2010/main" val="3109970255"/>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940484">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940484">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940484">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940484">
                                            <p:txEl>
                                              <p:pRg st="4" end="4"/>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940484">
                                            <p:txEl>
                                              <p:pRg st="5" end="5"/>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940484">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812" name="Rectangle 2"/>
          <p:cNvSpPr>
            <a:spLocks noGrp="1" noChangeArrowheads="1"/>
          </p:cNvSpPr>
          <p:nvPr>
            <p:ph type="title"/>
          </p:nvPr>
        </p:nvSpPr>
        <p:spPr>
          <a:xfrm>
            <a:off x="1676400" y="190763"/>
            <a:ext cx="10515600" cy="1325563"/>
          </a:xfrm>
        </p:spPr>
        <p:txBody>
          <a:bodyPr>
            <a:normAutofit/>
          </a:bodyPr>
          <a:lstStyle/>
          <a:p>
            <a:r>
              <a:rPr lang="en-US" altLang="ko-KR" sz="3600" b="1" dirty="0" smtClean="0">
                <a:ea typeface="굴림" pitchFamily="34" charset="-127"/>
              </a:rPr>
              <a:t>Goal = Measurable Leadership Growth</a:t>
            </a:r>
          </a:p>
        </p:txBody>
      </p:sp>
      <p:sp>
        <p:nvSpPr>
          <p:cNvPr id="119813" name="Rectangle 3"/>
          <p:cNvSpPr>
            <a:spLocks noGrp="1" noChangeArrowheads="1"/>
          </p:cNvSpPr>
          <p:nvPr>
            <p:ph idx="1"/>
          </p:nvPr>
        </p:nvSpPr>
        <p:spPr>
          <a:xfrm>
            <a:off x="1774105" y="1235377"/>
            <a:ext cx="8866187" cy="2357568"/>
          </a:xfrm>
        </p:spPr>
        <p:txBody>
          <a:bodyPr>
            <a:normAutofit/>
          </a:bodyPr>
          <a:lstStyle/>
          <a:p>
            <a:pPr>
              <a:lnSpc>
                <a:spcPct val="140000"/>
              </a:lnSpc>
              <a:buFont typeface="Wingdings" pitchFamily="2" charset="2"/>
              <a:buNone/>
            </a:pPr>
            <a:r>
              <a:rPr lang="en-US" altLang="ko-KR" sz="1600" u="sng" dirty="0" smtClean="0">
                <a:ea typeface="굴림" pitchFamily="34" charset="-127"/>
              </a:rPr>
              <a:t>Leadership is a Contact </a:t>
            </a:r>
            <a:r>
              <a:rPr lang="en-US" altLang="ko-KR" sz="1600" u="sng" dirty="0">
                <a:ea typeface="굴림" pitchFamily="34" charset="-127"/>
              </a:rPr>
              <a:t>S</a:t>
            </a:r>
            <a:r>
              <a:rPr lang="en-US" altLang="ko-KR" sz="1600" u="sng" dirty="0" smtClean="0">
                <a:ea typeface="굴림" pitchFamily="34" charset="-127"/>
              </a:rPr>
              <a:t>port – Real time on the job !</a:t>
            </a:r>
          </a:p>
          <a:p>
            <a:pPr>
              <a:lnSpc>
                <a:spcPct val="140000"/>
              </a:lnSpc>
              <a:buFont typeface="Wingdings" pitchFamily="2" charset="2"/>
              <a:buNone/>
            </a:pPr>
            <a:r>
              <a:rPr lang="en-US" altLang="ko-KR" sz="1600" dirty="0" smtClean="0">
                <a:solidFill>
                  <a:schemeClr val="accent2"/>
                </a:solidFill>
                <a:ea typeface="굴림" pitchFamily="34" charset="-127"/>
              </a:rPr>
              <a:t>Requirements:</a:t>
            </a:r>
          </a:p>
          <a:p>
            <a:pPr>
              <a:lnSpc>
                <a:spcPct val="140000"/>
              </a:lnSpc>
              <a:buFont typeface="Wingdings" pitchFamily="2" charset="2"/>
              <a:buChar char="Ø"/>
            </a:pPr>
            <a:r>
              <a:rPr lang="en-US" altLang="ko-KR" sz="1600" u="sng" dirty="0" smtClean="0">
                <a:solidFill>
                  <a:schemeClr val="accent2"/>
                </a:solidFill>
                <a:ea typeface="굴림" pitchFamily="34" charset="-127"/>
              </a:rPr>
              <a:t>Stakeholders’</a:t>
            </a:r>
            <a:r>
              <a:rPr lang="en-US" altLang="ko-KR" sz="1600" dirty="0" smtClean="0">
                <a:ea typeface="굴림" pitchFamily="34" charset="-127"/>
              </a:rPr>
              <a:t> involvement creates real time </a:t>
            </a:r>
            <a:r>
              <a:rPr lang="en-US" altLang="ko-KR" sz="1600" dirty="0" smtClean="0">
                <a:solidFill>
                  <a:schemeClr val="accent2"/>
                </a:solidFill>
                <a:ea typeface="굴림" pitchFamily="34" charset="-127"/>
              </a:rPr>
              <a:t>on the job coaching </a:t>
            </a:r>
          </a:p>
          <a:p>
            <a:pPr>
              <a:lnSpc>
                <a:spcPct val="140000"/>
              </a:lnSpc>
              <a:buFont typeface="Wingdings" pitchFamily="2" charset="2"/>
              <a:buChar char="Ø"/>
            </a:pPr>
            <a:r>
              <a:rPr lang="en-US" altLang="ko-KR" sz="1600" u="sng" dirty="0" smtClean="0">
                <a:solidFill>
                  <a:schemeClr val="accent2"/>
                </a:solidFill>
                <a:ea typeface="굴림" pitchFamily="34" charset="-127"/>
                <a:sym typeface="Wingdings" pitchFamily="2" charset="2"/>
              </a:rPr>
              <a:t>Monthly follow up</a:t>
            </a:r>
            <a:r>
              <a:rPr lang="en-US" altLang="ko-KR" sz="1600" dirty="0" smtClean="0">
                <a:ea typeface="굴림" pitchFamily="34" charset="-127"/>
              </a:rPr>
              <a:t> creates </a:t>
            </a:r>
            <a:r>
              <a:rPr lang="en-US" altLang="ko-KR" sz="1600" dirty="0" smtClean="0">
                <a:solidFill>
                  <a:schemeClr val="accent2"/>
                </a:solidFill>
                <a:ea typeface="굴림" pitchFamily="34" charset="-127"/>
              </a:rPr>
              <a:t>sustainability</a:t>
            </a:r>
            <a:r>
              <a:rPr lang="en-US" altLang="ko-KR" sz="1600" dirty="0" smtClean="0">
                <a:ea typeface="굴림" pitchFamily="34" charset="-127"/>
              </a:rPr>
              <a:t> of changed leadership behavior </a:t>
            </a:r>
            <a:r>
              <a:rPr lang="en-US" altLang="ko-KR" sz="1600" dirty="0" smtClean="0">
                <a:ea typeface="굴림" pitchFamily="34" charset="-127"/>
                <a:sym typeface="Wingdings" pitchFamily="2" charset="2"/>
              </a:rPr>
              <a:t> </a:t>
            </a:r>
            <a:r>
              <a:rPr lang="en-US" altLang="ko-KR" sz="1600" dirty="0" smtClean="0">
                <a:ea typeface="굴림" pitchFamily="34" charset="-127"/>
              </a:rPr>
              <a:t>Habits</a:t>
            </a:r>
            <a:r>
              <a:rPr lang="en-US" altLang="ko-KR" sz="1600" dirty="0" smtClean="0">
                <a:solidFill>
                  <a:schemeClr val="accent2"/>
                </a:solidFill>
                <a:ea typeface="굴림" pitchFamily="34" charset="-127"/>
              </a:rPr>
              <a:t> </a:t>
            </a:r>
          </a:p>
          <a:p>
            <a:pPr>
              <a:lnSpc>
                <a:spcPct val="140000"/>
              </a:lnSpc>
              <a:buFont typeface="Wingdings" pitchFamily="2" charset="2"/>
              <a:buChar char="Ø"/>
            </a:pPr>
            <a:r>
              <a:rPr lang="en-US" altLang="ko-KR" sz="1600" u="sng" dirty="0" smtClean="0">
                <a:solidFill>
                  <a:schemeClr val="accent2"/>
                </a:solidFill>
                <a:ea typeface="굴림" pitchFamily="34" charset="-127"/>
                <a:sym typeface="Wingdings" pitchFamily="2" charset="2"/>
              </a:rPr>
              <a:t>Leadership Growth Progress Reviews</a:t>
            </a:r>
            <a:r>
              <a:rPr lang="en-US" altLang="ko-KR" sz="1600" dirty="0" smtClean="0">
                <a:solidFill>
                  <a:schemeClr val="accent2"/>
                </a:solidFill>
                <a:ea typeface="굴림" pitchFamily="34" charset="-127"/>
                <a:sym typeface="Wingdings" pitchFamily="2" charset="2"/>
              </a:rPr>
              <a:t> </a:t>
            </a:r>
            <a:r>
              <a:rPr lang="en-US" altLang="ko-KR" sz="1600" dirty="0" smtClean="0">
                <a:ea typeface="굴림" pitchFamily="34" charset="-127"/>
                <a:sym typeface="Wingdings" pitchFamily="2" charset="2"/>
              </a:rPr>
              <a:t>provide</a:t>
            </a:r>
            <a:r>
              <a:rPr lang="en-US" altLang="ko-KR" sz="1600" dirty="0" smtClean="0">
                <a:solidFill>
                  <a:schemeClr val="accent2"/>
                </a:solidFill>
                <a:ea typeface="굴림" pitchFamily="34" charset="-127"/>
                <a:sym typeface="Wingdings" pitchFamily="2" charset="2"/>
              </a:rPr>
              <a:t> </a:t>
            </a:r>
            <a:r>
              <a:rPr lang="en-US" altLang="ko-KR" sz="1600" dirty="0" smtClean="0">
                <a:solidFill>
                  <a:schemeClr val="accent2"/>
                </a:solidFill>
                <a:ea typeface="굴림" pitchFamily="34" charset="-127"/>
              </a:rPr>
              <a:t>measurable</a:t>
            </a:r>
            <a:r>
              <a:rPr lang="en-US" altLang="ko-KR" sz="1600" dirty="0" smtClean="0">
                <a:ea typeface="굴림" pitchFamily="34" charset="-127"/>
              </a:rPr>
              <a:t> perceived leadership effectiveness growth</a:t>
            </a:r>
            <a:endParaRPr lang="en-US" altLang="ko-KR" sz="1600" dirty="0" smtClean="0">
              <a:solidFill>
                <a:schemeClr val="accent2"/>
              </a:solidFill>
              <a:ea typeface="굴림" pitchFamily="34" charset="-127"/>
              <a:sym typeface="Wingdings" pitchFamily="2" charset="2"/>
            </a:endParaRPr>
          </a:p>
        </p:txBody>
      </p:sp>
      <p:pic>
        <p:nvPicPr>
          <p:cNvPr id="119816" name="Picture 7"/>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195736" y="3617538"/>
            <a:ext cx="2294114" cy="2944705"/>
          </a:xfrm>
          <a:prstGeom prst="rect">
            <a:avLst/>
          </a:prstGeom>
          <a:noFill/>
          <a:ln w="34925">
            <a:noFill/>
            <a:miter lim="800000"/>
            <a:headEnd/>
            <a:tailEnd/>
          </a:ln>
        </p:spPr>
      </p:pic>
      <p:pic>
        <p:nvPicPr>
          <p:cNvPr id="12" name="Picture 2" descr="95 % of leaders who consistently involved stakeholders measurably improved their effectiveness!"/>
          <p:cNvPicPr>
            <a:picLocks noChangeAspect="1" noChangeArrowheads="1"/>
          </p:cNvPicPr>
          <p:nvPr/>
        </p:nvPicPr>
        <p:blipFill rotWithShape="1">
          <a:blip r:embed="rId4" r:link="rId5" cstate="print">
            <a:extLst>
              <a:ext uri="{28A0092B-C50C-407E-A947-70E740481C1C}">
                <a14:useLocalDpi xmlns:a14="http://schemas.microsoft.com/office/drawing/2010/main"/>
              </a:ext>
            </a:extLst>
          </a:blip>
          <a:srcRect r="25046"/>
          <a:stretch/>
        </p:blipFill>
        <p:spPr bwMode="auto">
          <a:xfrm>
            <a:off x="1958974" y="3821092"/>
            <a:ext cx="6012857" cy="2893743"/>
          </a:xfrm>
          <a:prstGeom prst="rect">
            <a:avLst/>
          </a:prstGeom>
          <a:noFill/>
          <a:ln w="9525">
            <a:noFill/>
            <a:miter lim="800000"/>
            <a:headEnd/>
            <a:tailEnd/>
          </a:ln>
        </p:spPr>
      </p:pic>
      <p:sp>
        <p:nvSpPr>
          <p:cNvPr id="14" name="Rectangle 13"/>
          <p:cNvSpPr/>
          <p:nvPr/>
        </p:nvSpPr>
        <p:spPr>
          <a:xfrm>
            <a:off x="1997247" y="3821093"/>
            <a:ext cx="4561570" cy="553998"/>
          </a:xfrm>
          <a:prstGeom prst="rect">
            <a:avLst/>
          </a:prstGeom>
          <a:solidFill>
            <a:srgbClr val="005246"/>
          </a:solidFill>
          <a:ln w="28575">
            <a:noFill/>
          </a:ln>
        </p:spPr>
        <p:txBody>
          <a:bodyPr wrap="square" lIns="0" tIns="0" rIns="0" bIns="0" anchor="ctr">
            <a:spAutoFit/>
          </a:bodyPr>
          <a:lstStyle/>
          <a:p>
            <a:pPr algn="ctr">
              <a:spcBef>
                <a:spcPct val="50000"/>
              </a:spcBef>
            </a:pPr>
            <a:r>
              <a:rPr lang="en-US" altLang="ko-KR" dirty="0">
                <a:solidFill>
                  <a:srgbClr val="FFFF00"/>
                </a:solidFill>
                <a:ea typeface="굴림" pitchFamily="34" charset="-127"/>
              </a:rPr>
              <a:t>95% of leaders using Stakeholder Centered Coaching improved their effectiveness</a:t>
            </a:r>
          </a:p>
        </p:txBody>
      </p:sp>
      <p:sp>
        <p:nvSpPr>
          <p:cNvPr id="15" name="Rectangle 14"/>
          <p:cNvSpPr/>
          <p:nvPr/>
        </p:nvSpPr>
        <p:spPr>
          <a:xfrm>
            <a:off x="1997247" y="6322205"/>
            <a:ext cx="2824491" cy="323165"/>
          </a:xfrm>
          <a:prstGeom prst="rect">
            <a:avLst/>
          </a:prstGeom>
          <a:solidFill>
            <a:srgbClr val="005246"/>
          </a:solidFill>
          <a:ln w="28575">
            <a:noFill/>
          </a:ln>
        </p:spPr>
        <p:txBody>
          <a:bodyPr wrap="square" lIns="0" tIns="0" rIns="0" bIns="0" anchor="ctr">
            <a:spAutoFit/>
          </a:bodyPr>
          <a:lstStyle/>
          <a:p>
            <a:pPr algn="ctr">
              <a:lnSpc>
                <a:spcPct val="150000"/>
              </a:lnSpc>
              <a:spcBef>
                <a:spcPct val="50000"/>
              </a:spcBef>
            </a:pPr>
            <a:r>
              <a:rPr lang="en-US" altLang="ko-KR" sz="1400" dirty="0">
                <a:solidFill>
                  <a:srgbClr val="FFFF00"/>
                </a:solidFill>
                <a:ea typeface="굴림" pitchFamily="34" charset="-127"/>
              </a:rPr>
              <a:t>11,000 leaders on 4 continents</a:t>
            </a:r>
          </a:p>
        </p:txBody>
      </p:sp>
    </p:spTree>
    <p:extLst>
      <p:ext uri="{BB962C8B-B14F-4D97-AF65-F5344CB8AC3E}">
        <p14:creationId xmlns:p14="http://schemas.microsoft.com/office/powerpoint/2010/main" val="289913752"/>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9816"/>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2"/>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4"/>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P spid="15"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 name="Title 1"/>
          <p:cNvSpPr>
            <a:spLocks noGrp="1"/>
          </p:cNvSpPr>
          <p:nvPr>
            <p:ph type="title"/>
          </p:nvPr>
        </p:nvSpPr>
        <p:spPr>
          <a:xfrm>
            <a:off x="1505527" y="396010"/>
            <a:ext cx="9144000" cy="647700"/>
          </a:xfrm>
        </p:spPr>
        <p:txBody>
          <a:bodyPr>
            <a:noAutofit/>
          </a:bodyPr>
          <a:lstStyle/>
          <a:p>
            <a:pPr algn="ctr">
              <a:defRPr/>
            </a:pPr>
            <a:r>
              <a:rPr lang="en-US" sz="3600" b="1" dirty="0" smtClean="0"/>
              <a:t>Stakeholder </a:t>
            </a:r>
            <a:r>
              <a:rPr lang="en-US" sz="3600" b="1" dirty="0"/>
              <a:t>Centered Coaching</a:t>
            </a:r>
            <a:br>
              <a:rPr lang="en-US" sz="3600" b="1" dirty="0"/>
            </a:br>
            <a:r>
              <a:rPr lang="en-US" sz="3600" b="1" dirty="0"/>
              <a:t>Guarantees Measurable Leadership Growth</a:t>
            </a:r>
          </a:p>
        </p:txBody>
      </p:sp>
      <p:sp>
        <p:nvSpPr>
          <p:cNvPr id="2" name="Content Placeholder 1"/>
          <p:cNvSpPr>
            <a:spLocks noGrp="1"/>
          </p:cNvSpPr>
          <p:nvPr>
            <p:ph idx="1"/>
          </p:nvPr>
        </p:nvSpPr>
        <p:spPr>
          <a:xfrm>
            <a:off x="932872" y="1644074"/>
            <a:ext cx="9421091" cy="4479636"/>
          </a:xfrm>
        </p:spPr>
        <p:txBody>
          <a:bodyPr>
            <a:normAutofit fontScale="55000" lnSpcReduction="20000"/>
          </a:bodyPr>
          <a:lstStyle/>
          <a:p>
            <a:pPr marL="0" indent="0">
              <a:lnSpc>
                <a:spcPct val="150000"/>
              </a:lnSpc>
              <a:buNone/>
            </a:pPr>
            <a:r>
              <a:rPr lang="en-US" sz="3300" b="1" dirty="0" smtClean="0"/>
              <a:t>Phases	</a:t>
            </a:r>
            <a:r>
              <a:rPr lang="en-US" dirty="0" smtClean="0"/>
              <a:t>					</a:t>
            </a:r>
          </a:p>
          <a:p>
            <a:pPr marL="0" indent="0">
              <a:lnSpc>
                <a:spcPct val="150000"/>
              </a:lnSpc>
              <a:buNone/>
              <a:tabLst>
                <a:tab pos="336550" algn="l"/>
                <a:tab pos="571500" algn="l"/>
                <a:tab pos="914400" algn="l"/>
                <a:tab pos="1257300" algn="l"/>
                <a:tab pos="1657350" algn="l"/>
                <a:tab pos="1944688" algn="l"/>
                <a:tab pos="4235450" algn="l"/>
              </a:tabLst>
            </a:pPr>
            <a:r>
              <a:rPr lang="en-US" altLang="zh-CN" sz="4000" dirty="0" smtClean="0">
                <a:solidFill>
                  <a:srgbClr val="C00000"/>
                </a:solidFill>
              </a:rPr>
              <a:t>A</a:t>
            </a:r>
            <a:r>
              <a:rPr lang="en-US" sz="4000" dirty="0" smtClean="0">
                <a:solidFill>
                  <a:srgbClr val="C00000"/>
                </a:solidFill>
              </a:rPr>
              <a:t>1.	Behavioral interviews, structural assessment </a:t>
            </a:r>
          </a:p>
          <a:p>
            <a:pPr marL="0" indent="0" defTabSz="465138">
              <a:lnSpc>
                <a:spcPct val="150000"/>
              </a:lnSpc>
              <a:buNone/>
              <a:tabLst>
                <a:tab pos="336550" algn="l"/>
                <a:tab pos="571500" algn="l"/>
                <a:tab pos="914400" algn="l"/>
                <a:tab pos="1257300" algn="l"/>
                <a:tab pos="1657350" algn="l"/>
                <a:tab pos="1944688" algn="l"/>
                <a:tab pos="4235450" algn="l"/>
              </a:tabLst>
            </a:pPr>
            <a:r>
              <a:rPr lang="en-US" sz="4000" dirty="0" smtClean="0">
                <a:solidFill>
                  <a:srgbClr val="C00000"/>
                </a:solidFill>
              </a:rPr>
              <a:t>A2.	Determine leadership growth areas 	</a:t>
            </a:r>
          </a:p>
          <a:p>
            <a:pPr marL="0" indent="0">
              <a:lnSpc>
                <a:spcPct val="150000"/>
              </a:lnSpc>
              <a:buNone/>
              <a:tabLst>
                <a:tab pos="336550" algn="l"/>
                <a:tab pos="571500" algn="l"/>
                <a:tab pos="914400" algn="l"/>
                <a:tab pos="1257300" algn="l"/>
                <a:tab pos="1657350" algn="l"/>
                <a:tab pos="1944688" algn="l"/>
                <a:tab pos="4235450" algn="l"/>
              </a:tabLst>
            </a:pPr>
            <a:r>
              <a:rPr lang="en-US" sz="4000" dirty="0" smtClean="0"/>
              <a:t>B1.   Stakeholders briefing 	</a:t>
            </a:r>
          </a:p>
          <a:p>
            <a:pPr marL="0" indent="0">
              <a:lnSpc>
                <a:spcPct val="150000"/>
              </a:lnSpc>
              <a:buNone/>
              <a:tabLst>
                <a:tab pos="336550" algn="l"/>
                <a:tab pos="571500" algn="l"/>
                <a:tab pos="914400" algn="l"/>
                <a:tab pos="1257300" algn="l"/>
                <a:tab pos="1657350" algn="l"/>
                <a:tab pos="1944688" algn="l"/>
                <a:tab pos="4235450" algn="l"/>
              </a:tabLst>
            </a:pPr>
            <a:r>
              <a:rPr lang="en-US" sz="4000" dirty="0" smtClean="0"/>
              <a:t>B2.   Leading </a:t>
            </a:r>
            <a:r>
              <a:rPr lang="en-US" sz="4000" dirty="0"/>
              <a:t>Change </a:t>
            </a:r>
            <a:r>
              <a:rPr lang="en-US" sz="4000" dirty="0" smtClean="0"/>
              <a:t>Involving Stakeholders </a:t>
            </a:r>
          </a:p>
          <a:p>
            <a:pPr marL="0" indent="0">
              <a:lnSpc>
                <a:spcPct val="150000"/>
              </a:lnSpc>
              <a:buNone/>
              <a:tabLst>
                <a:tab pos="336550" algn="l"/>
                <a:tab pos="571500" algn="l"/>
                <a:tab pos="914400" algn="l"/>
                <a:tab pos="1257300" algn="l"/>
                <a:tab pos="1657350" algn="l"/>
                <a:tab pos="1944688" algn="l"/>
                <a:tab pos="4235450" algn="l"/>
              </a:tabLst>
            </a:pPr>
            <a:r>
              <a:rPr lang="en-US" sz="4000" dirty="0"/>
              <a:t>	</a:t>
            </a:r>
            <a:r>
              <a:rPr lang="en-US" sz="4000" dirty="0" smtClean="0"/>
              <a:t>    (Monthly Action Plan)				</a:t>
            </a:r>
          </a:p>
          <a:p>
            <a:pPr marL="0" indent="0">
              <a:lnSpc>
                <a:spcPct val="150000"/>
              </a:lnSpc>
              <a:buNone/>
              <a:tabLst>
                <a:tab pos="336550" algn="l"/>
                <a:tab pos="571500" algn="l"/>
                <a:tab pos="914400" algn="l"/>
                <a:tab pos="1257300" algn="l"/>
                <a:tab pos="1657350" algn="l"/>
                <a:tab pos="1944688" algn="l"/>
                <a:tab pos="4235450" algn="l"/>
              </a:tabLst>
            </a:pPr>
            <a:r>
              <a:rPr lang="en-US" sz="4000" dirty="0" smtClean="0"/>
              <a:t>C1.   Leadership </a:t>
            </a:r>
            <a:r>
              <a:rPr lang="en-US" sz="4000" dirty="0"/>
              <a:t>G</a:t>
            </a:r>
            <a:r>
              <a:rPr lang="en-US" sz="4000" dirty="0" smtClean="0"/>
              <a:t>rowth </a:t>
            </a:r>
            <a:r>
              <a:rPr lang="en-US" sz="4000" dirty="0"/>
              <a:t>P</a:t>
            </a:r>
            <a:r>
              <a:rPr lang="en-US" sz="4000" dirty="0" smtClean="0"/>
              <a:t>rogress Review</a:t>
            </a:r>
          </a:p>
          <a:p>
            <a:pPr marL="0" indent="0">
              <a:lnSpc>
                <a:spcPct val="150000"/>
              </a:lnSpc>
              <a:buNone/>
              <a:tabLst>
                <a:tab pos="336550" algn="l"/>
                <a:tab pos="571500" algn="l"/>
                <a:tab pos="914400" algn="l"/>
                <a:tab pos="1257300" algn="l"/>
                <a:tab pos="1657350" algn="l"/>
                <a:tab pos="1944688" algn="l"/>
                <a:tab pos="4235450" algn="l"/>
              </a:tabLst>
            </a:pPr>
            <a:r>
              <a:rPr lang="en-US" sz="4000" dirty="0" smtClean="0"/>
              <a:t>C2.   Leader becomes coach	</a:t>
            </a:r>
          </a:p>
        </p:txBody>
      </p:sp>
      <p:sp>
        <p:nvSpPr>
          <p:cNvPr id="25" name="Right Brace 24"/>
          <p:cNvSpPr/>
          <p:nvPr/>
        </p:nvSpPr>
        <p:spPr bwMode="auto">
          <a:xfrm>
            <a:off x="6562194" y="1856509"/>
            <a:ext cx="363684" cy="4064000"/>
          </a:xfrm>
          <a:prstGeom prst="rightBrace">
            <a:avLst>
              <a:gd name="adj1" fmla="val 0"/>
              <a:gd name="adj2" fmla="val 10790"/>
            </a:avLst>
          </a:prstGeom>
          <a:noFill/>
          <a:ln w="28575" cap="flat" cmpd="sng" algn="ctr">
            <a:solidFill>
              <a:srgbClr val="005246"/>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noAutofit/>
          </a:bodyPr>
          <a:lstStyle/>
          <a:p>
            <a:pPr algn="ctr" eaLnBrk="0" fontAlgn="base" hangingPunct="0">
              <a:spcBef>
                <a:spcPct val="20000"/>
              </a:spcBef>
              <a:spcAft>
                <a:spcPct val="0"/>
              </a:spcAft>
              <a:tabLst>
                <a:tab pos="1944688" algn="l"/>
              </a:tabLst>
            </a:pPr>
            <a:endParaRPr lang="en-US" sz="1600" b="1">
              <a:solidFill>
                <a:srgbClr val="000000"/>
              </a:solidFill>
              <a:latin typeface="Arial" charset="0"/>
            </a:endParaRPr>
          </a:p>
        </p:txBody>
      </p:sp>
      <p:pic>
        <p:nvPicPr>
          <p:cNvPr id="10" name="그림 3" descr="D:\alldata\A SCC-MG\Coaching - SCC-MG\SCC-MG process\SCC-MG - Process - portrait - final.jpg"/>
          <p:cNvPicPr/>
          <p:nvPr/>
        </p:nvPicPr>
        <p:blipFill rotWithShape="1">
          <a:blip r:embed="rId2" cstate="print"/>
          <a:srcRect b="30628"/>
          <a:stretch/>
        </p:blipFill>
        <p:spPr bwMode="auto">
          <a:xfrm>
            <a:off x="7110603" y="1644073"/>
            <a:ext cx="4536452" cy="4276435"/>
          </a:xfrm>
          <a:prstGeom prst="rect">
            <a:avLst/>
          </a:prstGeom>
          <a:noFill/>
          <a:ln w="9525">
            <a:noFill/>
            <a:miter lim="800000"/>
            <a:headEnd/>
            <a:tailEnd/>
          </a:ln>
        </p:spPr>
      </p:pic>
    </p:spTree>
    <p:extLst>
      <p:ext uri="{BB962C8B-B14F-4D97-AF65-F5344CB8AC3E}">
        <p14:creationId xmlns:p14="http://schemas.microsoft.com/office/powerpoint/2010/main" val="2760673221"/>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xEl>
                                              <p:pRg st="0" end="0"/>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2">
                                            <p:txEl>
                                              <p:pRg st="1" end="1"/>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
                                            <p:txEl>
                                              <p:pRg st="3" end="3"/>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2">
                                            <p:txEl>
                                              <p:pRg st="4" end="4"/>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2">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
                                            <p:txEl>
                                              <p:pRg st="6" end="6"/>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2">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altLang="ko-KR" sz="3600" b="1" dirty="0" smtClean="0">
                <a:ea typeface="굴림" pitchFamily="34" charset="-127"/>
              </a:rPr>
              <a:t>Stakeholder Centered Coaching</a:t>
            </a:r>
            <a:endParaRPr lang="en-US" sz="3600" b="1" dirty="0"/>
          </a:p>
        </p:txBody>
      </p:sp>
      <p:sp>
        <p:nvSpPr>
          <p:cNvPr id="4" name="Content Placeholder 3"/>
          <p:cNvSpPr>
            <a:spLocks noGrp="1"/>
          </p:cNvSpPr>
          <p:nvPr>
            <p:ph sz="half" idx="1"/>
          </p:nvPr>
        </p:nvSpPr>
        <p:spPr>
          <a:xfrm>
            <a:off x="904153" y="2095511"/>
            <a:ext cx="6472238" cy="3220369"/>
          </a:xfrm>
        </p:spPr>
        <p:txBody>
          <a:bodyPr vert="horz" lIns="0" tIns="45720" rIns="0" bIns="45720" rtlCol="0">
            <a:noAutofit/>
          </a:bodyPr>
          <a:lstStyle/>
          <a:p>
            <a:pPr marL="0" indent="0">
              <a:lnSpc>
                <a:spcPts val="1900"/>
              </a:lnSpc>
              <a:buNone/>
            </a:pPr>
            <a:r>
              <a:rPr lang="en-US" sz="1800" dirty="0" smtClean="0"/>
              <a:t>Guarantees leadership </a:t>
            </a:r>
            <a:r>
              <a:rPr lang="en-US" sz="2400" dirty="0" smtClean="0"/>
              <a:t>growth</a:t>
            </a:r>
            <a:r>
              <a:rPr lang="en-US" sz="1800" dirty="0" smtClean="0"/>
              <a:t> for leaders who have:</a:t>
            </a:r>
          </a:p>
          <a:p>
            <a:pPr marL="0" indent="0">
              <a:lnSpc>
                <a:spcPts val="1900"/>
              </a:lnSpc>
              <a:buNone/>
            </a:pPr>
            <a:endParaRPr lang="en-US" sz="1800" dirty="0" smtClean="0"/>
          </a:p>
          <a:p>
            <a:pPr>
              <a:lnSpc>
                <a:spcPts val="2000"/>
              </a:lnSpc>
            </a:pPr>
            <a:r>
              <a:rPr lang="en-US" sz="1800" u="sng" dirty="0" smtClean="0">
                <a:solidFill>
                  <a:srgbClr val="005246"/>
                </a:solidFill>
              </a:rPr>
              <a:t>Courage</a:t>
            </a:r>
            <a:r>
              <a:rPr lang="en-US" sz="1800" dirty="0" smtClean="0">
                <a:solidFill>
                  <a:srgbClr val="005246"/>
                </a:solidFill>
              </a:rPr>
              <a:t> </a:t>
            </a:r>
            <a:r>
              <a:rPr lang="en-US" sz="1800" dirty="0" smtClean="0"/>
              <a:t>( = about YOU) - get out of the comfort zone, be vulnerable, try new things, </a:t>
            </a:r>
            <a:r>
              <a:rPr lang="en-US" sz="1800" dirty="0"/>
              <a:t>rethink deeply held </a:t>
            </a:r>
            <a:r>
              <a:rPr lang="en-US" sz="1800" dirty="0" smtClean="0"/>
              <a:t>beliefs and do what it takes to change</a:t>
            </a:r>
          </a:p>
          <a:p>
            <a:pPr>
              <a:lnSpc>
                <a:spcPts val="1000"/>
              </a:lnSpc>
              <a:buNone/>
            </a:pPr>
            <a:endParaRPr lang="en-US" sz="1800" dirty="0" smtClean="0"/>
          </a:p>
          <a:p>
            <a:pPr>
              <a:lnSpc>
                <a:spcPts val="2000"/>
              </a:lnSpc>
            </a:pPr>
            <a:r>
              <a:rPr lang="en-US" sz="1800" u="sng" dirty="0" smtClean="0">
                <a:solidFill>
                  <a:srgbClr val="005246"/>
                </a:solidFill>
              </a:rPr>
              <a:t>Humility</a:t>
            </a:r>
            <a:r>
              <a:rPr lang="en-US" sz="1800" dirty="0" smtClean="0">
                <a:solidFill>
                  <a:srgbClr val="005246"/>
                </a:solidFill>
              </a:rPr>
              <a:t> </a:t>
            </a:r>
            <a:r>
              <a:rPr lang="en-US" sz="1800" dirty="0" smtClean="0"/>
              <a:t>(= NOT about YOU) - involve </a:t>
            </a:r>
            <a:r>
              <a:rPr lang="en-US" sz="1800" dirty="0"/>
              <a:t>stakeholders on the </a:t>
            </a:r>
            <a:r>
              <a:rPr lang="en-US" sz="1800" dirty="0" smtClean="0"/>
              <a:t>job, consider their suggestions, admit you aren't perfect and </a:t>
            </a:r>
            <a:r>
              <a:rPr lang="en-US" sz="1800" dirty="0"/>
              <a:t>demonstrate leadership growth</a:t>
            </a:r>
          </a:p>
          <a:p>
            <a:pPr latinLnBrk="1">
              <a:lnSpc>
                <a:spcPts val="1000"/>
              </a:lnSpc>
            </a:pPr>
            <a:endParaRPr lang="en-US" sz="1800" dirty="0"/>
          </a:p>
          <a:p>
            <a:pPr>
              <a:lnSpc>
                <a:spcPts val="2000"/>
              </a:lnSpc>
            </a:pPr>
            <a:r>
              <a:rPr lang="en-US" sz="1800" u="sng" dirty="0" smtClean="0">
                <a:solidFill>
                  <a:srgbClr val="005246"/>
                </a:solidFill>
              </a:rPr>
              <a:t>Discipline</a:t>
            </a:r>
            <a:r>
              <a:rPr lang="en-US" sz="1800" dirty="0" smtClean="0">
                <a:solidFill>
                  <a:srgbClr val="005246"/>
                </a:solidFill>
              </a:rPr>
              <a:t> </a:t>
            </a:r>
            <a:r>
              <a:rPr lang="en-US" sz="1800" dirty="0" smtClean="0"/>
              <a:t>to implement and hone more effective behaviors / habits / processes</a:t>
            </a:r>
          </a:p>
        </p:txBody>
      </p:sp>
      <p:pic>
        <p:nvPicPr>
          <p:cNvPr id="3" name="图片 2"/>
          <p:cNvPicPr>
            <a:picLocks noChangeAspect="1"/>
          </p:cNvPicPr>
          <p:nvPr/>
        </p:nvPicPr>
        <p:blipFill>
          <a:blip r:embed="rId3"/>
          <a:stretch>
            <a:fillRect/>
          </a:stretch>
        </p:blipFill>
        <p:spPr>
          <a:xfrm>
            <a:off x="7831863" y="1690688"/>
            <a:ext cx="4163929" cy="4456562"/>
          </a:xfrm>
          <a:prstGeom prst="rect">
            <a:avLst/>
          </a:prstGeom>
        </p:spPr>
      </p:pic>
      <p:pic>
        <p:nvPicPr>
          <p:cNvPr id="6" name="Picture 2" descr="http://www.simplenoteasy.net/simple-not-easy-logo.png"/>
          <p:cNvPicPr>
            <a:picLocks noChangeAspect="1" noChangeArrowheads="1"/>
          </p:cNvPicPr>
          <p:nvPr/>
        </p:nvPicPr>
        <p:blipFill rotWithShape="1">
          <a:blip r:embed="rId4" cstate="print">
            <a:extLst>
              <a:ext uri="{28A0092B-C50C-407E-A947-70E740481C1C}">
                <a14:useLocalDpi xmlns:a14="http://schemas.microsoft.com/office/drawing/2010/main" val="0"/>
              </a:ext>
            </a:extLst>
          </a:blip>
          <a:srcRect/>
          <a:stretch/>
        </p:blipFill>
        <p:spPr bwMode="auto">
          <a:xfrm>
            <a:off x="526473" y="262595"/>
            <a:ext cx="1459025" cy="1530622"/>
          </a:xfrm>
          <a:prstGeom prst="rect">
            <a:avLst/>
          </a:prstGeom>
          <a:noFill/>
        </p:spPr>
      </p:pic>
    </p:spTree>
    <p:extLst>
      <p:ext uri="{BB962C8B-B14F-4D97-AF65-F5344CB8AC3E}">
        <p14:creationId xmlns:p14="http://schemas.microsoft.com/office/powerpoint/2010/main" val="1241729597"/>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60" name="Rectangle 2"/>
          <p:cNvSpPr>
            <a:spLocks noGrp="1" noChangeArrowheads="1"/>
          </p:cNvSpPr>
          <p:nvPr>
            <p:ph type="title"/>
          </p:nvPr>
        </p:nvSpPr>
        <p:spPr>
          <a:xfrm>
            <a:off x="828964" y="54350"/>
            <a:ext cx="10515600" cy="1325563"/>
          </a:xfrm>
        </p:spPr>
        <p:txBody>
          <a:bodyPr>
            <a:normAutofit/>
          </a:bodyPr>
          <a:lstStyle/>
          <a:p>
            <a:pPr algn="ctr"/>
            <a:r>
              <a:rPr lang="en-US" altLang="ko-KR" sz="3600" b="1" dirty="0" smtClean="0">
                <a:ea typeface="굴림" pitchFamily="34" charset="-127"/>
              </a:rPr>
              <a:t>Select stakeholders</a:t>
            </a:r>
          </a:p>
        </p:txBody>
      </p:sp>
      <p:sp>
        <p:nvSpPr>
          <p:cNvPr id="70661" name="Rectangle 3"/>
          <p:cNvSpPr>
            <a:spLocks noChangeArrowheads="1"/>
          </p:cNvSpPr>
          <p:nvPr/>
        </p:nvSpPr>
        <p:spPr bwMode="auto">
          <a:xfrm>
            <a:off x="1879600" y="1143666"/>
            <a:ext cx="8788400" cy="2438488"/>
          </a:xfrm>
          <a:prstGeom prst="rect">
            <a:avLst/>
          </a:prstGeom>
          <a:noFill/>
          <a:ln w="34925">
            <a:noFill/>
            <a:miter lim="800000"/>
            <a:headEnd/>
            <a:tailEnd/>
          </a:ln>
        </p:spPr>
        <p:txBody>
          <a:bodyPr anchor="ctr">
            <a:spAutoFit/>
          </a:bodyPr>
          <a:lstStyle/>
          <a:p>
            <a:pPr marL="304800" indent="-304800">
              <a:lnSpc>
                <a:spcPct val="130000"/>
              </a:lnSpc>
              <a:buNone/>
            </a:pPr>
            <a:r>
              <a:rPr lang="en-US" altLang="ko-KR" dirty="0">
                <a:ea typeface="굴림" pitchFamily="34" charset="-127"/>
              </a:rPr>
              <a:t>‘Feedback is the breakfast of champions’ (Ken Blanchard</a:t>
            </a:r>
            <a:r>
              <a:rPr lang="en-US" altLang="ko-KR" dirty="0" smtClean="0">
                <a:ea typeface="굴림" pitchFamily="34" charset="-127"/>
              </a:rPr>
              <a:t>)</a:t>
            </a:r>
            <a:br>
              <a:rPr lang="en-US" altLang="ko-KR" dirty="0" smtClean="0">
                <a:ea typeface="굴림" pitchFamily="34" charset="-127"/>
              </a:rPr>
            </a:br>
            <a:endParaRPr lang="en-US" altLang="ko-KR" dirty="0">
              <a:ea typeface="굴림" pitchFamily="34" charset="-127"/>
            </a:endParaRPr>
          </a:p>
          <a:p>
            <a:pPr marL="228600" indent="-228600">
              <a:lnSpc>
                <a:spcPct val="140000"/>
              </a:lnSpc>
              <a:buFont typeface="Wingdings" pitchFamily="2" charset="2"/>
              <a:buChar char="Ø"/>
              <a:tabLst>
                <a:tab pos="2636838" algn="ctr"/>
                <a:tab pos="5273675" algn="r"/>
              </a:tabLst>
            </a:pPr>
            <a:r>
              <a:rPr lang="en-US" altLang="ko-KR" dirty="0" smtClean="0">
                <a:ea typeface="굴림" pitchFamily="34" charset="-127"/>
              </a:rPr>
              <a:t>Feedforward </a:t>
            </a:r>
            <a:r>
              <a:rPr lang="en-US" altLang="ko-KR" dirty="0">
                <a:ea typeface="굴림" pitchFamily="34" charset="-127"/>
              </a:rPr>
              <a:t>is a key lever in behavioral change and leadership growth</a:t>
            </a:r>
          </a:p>
          <a:p>
            <a:pPr marL="228600" indent="-228600">
              <a:lnSpc>
                <a:spcPct val="140000"/>
              </a:lnSpc>
              <a:buFont typeface="Wingdings" pitchFamily="2" charset="2"/>
              <a:buChar char="Ø"/>
              <a:tabLst>
                <a:tab pos="2636838" algn="ctr"/>
                <a:tab pos="5273675" algn="r"/>
              </a:tabLst>
            </a:pPr>
            <a:r>
              <a:rPr lang="en-US" altLang="ko-KR" dirty="0">
                <a:ea typeface="굴림" pitchFamily="34" charset="-127"/>
              </a:rPr>
              <a:t>Select stakeholders important for your leadership effectiveness / impact : </a:t>
            </a:r>
          </a:p>
          <a:p>
            <a:pPr marL="685800" lvl="1" indent="-228600">
              <a:lnSpc>
                <a:spcPct val="140000"/>
              </a:lnSpc>
              <a:spcBef>
                <a:spcPct val="20000"/>
              </a:spcBef>
              <a:buFont typeface="Wingdings" pitchFamily="2" charset="2"/>
              <a:buChar char="Ø"/>
              <a:tabLst>
                <a:tab pos="2636838" algn="ctr"/>
                <a:tab pos="5273675" algn="r"/>
              </a:tabLst>
            </a:pPr>
            <a:r>
              <a:rPr lang="en-US" altLang="ko-KR" dirty="0">
                <a:ea typeface="굴림" pitchFamily="34" charset="-127"/>
              </a:rPr>
              <a:t>Not your fan club</a:t>
            </a:r>
            <a:r>
              <a:rPr lang="en-US" altLang="ko-KR" dirty="0" smtClean="0">
                <a:ea typeface="굴림" pitchFamily="34" charset="-127"/>
              </a:rPr>
              <a:t>!</a:t>
            </a:r>
          </a:p>
          <a:p>
            <a:pPr marL="685800" lvl="1" indent="-228600">
              <a:lnSpc>
                <a:spcPct val="140000"/>
              </a:lnSpc>
              <a:spcBef>
                <a:spcPct val="20000"/>
              </a:spcBef>
              <a:buFont typeface="Wingdings" pitchFamily="2" charset="2"/>
              <a:buChar char="Ø"/>
              <a:tabLst>
                <a:tab pos="2636838" algn="ctr"/>
                <a:tab pos="5273675" algn="r"/>
              </a:tabLst>
            </a:pPr>
            <a:r>
              <a:rPr lang="en-US" altLang="ko-KR" dirty="0" smtClean="0">
                <a:ea typeface="굴림" pitchFamily="34" charset="-127"/>
              </a:rPr>
              <a:t>Leading direct reports is your contract with the company (not peers)</a:t>
            </a:r>
            <a:endParaRPr lang="en-US" altLang="ko-KR" dirty="0">
              <a:ea typeface="굴림" pitchFamily="34" charset="-127"/>
            </a:endParaRPr>
          </a:p>
        </p:txBody>
      </p:sp>
      <p:graphicFrame>
        <p:nvGraphicFramePr>
          <p:cNvPr id="2022404" name="Group 4"/>
          <p:cNvGraphicFramePr>
            <a:graphicFrameLocks noGrp="1"/>
          </p:cNvGraphicFramePr>
          <p:nvPr>
            <p:extLst>
              <p:ext uri="{D42A27DB-BD31-4B8C-83A1-F6EECF244321}">
                <p14:modId xmlns:p14="http://schemas.microsoft.com/office/powerpoint/2010/main" val="1974518956"/>
              </p:ext>
            </p:extLst>
          </p:nvPr>
        </p:nvGraphicFramePr>
        <p:xfrm>
          <a:off x="1968500" y="3780656"/>
          <a:ext cx="8610600" cy="2816352"/>
        </p:xfrm>
        <a:graphic>
          <a:graphicData uri="http://schemas.openxmlformats.org/drawingml/2006/table">
            <a:tbl>
              <a:tblPr/>
              <a:tblGrid>
                <a:gridCol w="317500">
                  <a:extLst>
                    <a:ext uri="{9D8B030D-6E8A-4147-A177-3AD203B41FA5}">
                      <a16:colId xmlns:a16="http://schemas.microsoft.com/office/drawing/2014/main" val="20000"/>
                    </a:ext>
                  </a:extLst>
                </a:gridCol>
                <a:gridCol w="2251075">
                  <a:extLst>
                    <a:ext uri="{9D8B030D-6E8A-4147-A177-3AD203B41FA5}">
                      <a16:colId xmlns:a16="http://schemas.microsoft.com/office/drawing/2014/main" val="20001"/>
                    </a:ext>
                  </a:extLst>
                </a:gridCol>
                <a:gridCol w="2917825">
                  <a:extLst>
                    <a:ext uri="{9D8B030D-6E8A-4147-A177-3AD203B41FA5}">
                      <a16:colId xmlns:a16="http://schemas.microsoft.com/office/drawing/2014/main" val="20002"/>
                    </a:ext>
                  </a:extLst>
                </a:gridCol>
                <a:gridCol w="1181100">
                  <a:extLst>
                    <a:ext uri="{9D8B030D-6E8A-4147-A177-3AD203B41FA5}">
                      <a16:colId xmlns:a16="http://schemas.microsoft.com/office/drawing/2014/main" val="20003"/>
                    </a:ext>
                  </a:extLst>
                </a:gridCol>
                <a:gridCol w="1943100">
                  <a:extLst>
                    <a:ext uri="{9D8B030D-6E8A-4147-A177-3AD203B41FA5}">
                      <a16:colId xmlns:a16="http://schemas.microsoft.com/office/drawing/2014/main" val="20004"/>
                    </a:ext>
                  </a:extLst>
                </a:gridCol>
              </a:tblGrid>
              <a:tr h="469559">
                <a:tc>
                  <a:txBody>
                    <a:bodyPr/>
                    <a:lstStyle/>
                    <a:p>
                      <a:pPr marL="0" marR="0" lvl="0" indent="0" algn="l" defTabSz="914400" rtl="0" eaLnBrk="0" fontAlgn="base" latinLnBrk="0" hangingPunct="0">
                        <a:lnSpc>
                          <a:spcPct val="120000"/>
                        </a:lnSpc>
                        <a:spcBef>
                          <a:spcPct val="20000"/>
                        </a:spcBef>
                        <a:spcAft>
                          <a:spcPct val="0"/>
                        </a:spcAft>
                        <a:buClrTx/>
                        <a:buSzTx/>
                        <a:buFont typeface="Wingdings" pitchFamily="2" charset="2"/>
                        <a:buNone/>
                        <a:tabLst>
                          <a:tab pos="1944688" algn="l"/>
                        </a:tabLst>
                      </a:pPr>
                      <a:endParaRPr kumimoji="0" lang="en-US" altLang="ko-KR" sz="1400" b="1" i="0" u="none" strike="noStrike" cap="none" normalizeH="0" baseline="0" dirty="0" smtClean="0">
                        <a:ln>
                          <a:noFill/>
                        </a:ln>
                        <a:solidFill>
                          <a:schemeClr val="tx1"/>
                        </a:solidFill>
                        <a:effectLst/>
                        <a:latin typeface="Arial" pitchFamily="34" charset="0"/>
                        <a:ea typeface="굴림" pitchFamily="34" charset="-127"/>
                      </a:endParaRPr>
                    </a:p>
                    <a:p>
                      <a:pPr marL="0" marR="0" lvl="0" indent="0" algn="l" defTabSz="914400" rtl="0" eaLnBrk="0" fontAlgn="base" latinLnBrk="0" hangingPunct="0">
                        <a:lnSpc>
                          <a:spcPct val="120000"/>
                        </a:lnSpc>
                        <a:spcBef>
                          <a:spcPct val="20000"/>
                        </a:spcBef>
                        <a:spcAft>
                          <a:spcPct val="0"/>
                        </a:spcAft>
                        <a:buClrTx/>
                        <a:buSzTx/>
                        <a:buFont typeface="Wingdings" pitchFamily="2" charset="2"/>
                        <a:buNone/>
                        <a:tabLst>
                          <a:tab pos="1944688" algn="l"/>
                        </a:tabLst>
                      </a:pPr>
                      <a:endParaRPr kumimoji="0" lang="ko-KR" altLang="en-US" sz="1400" b="1" i="0" u="none" strike="noStrike" cap="none" normalizeH="0" baseline="0" dirty="0" smtClean="0">
                        <a:ln>
                          <a:noFill/>
                        </a:ln>
                        <a:solidFill>
                          <a:schemeClr val="tx1"/>
                        </a:solidFill>
                        <a:effectLst/>
                        <a:latin typeface="Arial" pitchFamily="34" charset="0"/>
                        <a:ea typeface="굴림" pitchFamily="34" charset="-127"/>
                      </a:endParaRPr>
                    </a:p>
                  </a:txBody>
                  <a:tcP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ko-KR" sz="1400" b="1" i="0" u="none" strike="noStrike" cap="none" normalizeH="0" baseline="0" dirty="0" smtClean="0">
                        <a:ln>
                          <a:noFill/>
                        </a:ln>
                        <a:solidFill>
                          <a:schemeClr val="tx1"/>
                        </a:solidFill>
                        <a:effectLst/>
                        <a:latin typeface="Arial" pitchFamily="34" charset="0"/>
                        <a:ea typeface="Batang" pitchFamily="18" charset="-127"/>
                        <a:cs typeface="Arial"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ko-KR" sz="1400" b="1" i="0" u="none" strike="noStrike" cap="none" normalizeH="0" baseline="0" dirty="0" smtClean="0">
                          <a:ln>
                            <a:noFill/>
                          </a:ln>
                          <a:solidFill>
                            <a:schemeClr val="tx1"/>
                          </a:solidFill>
                          <a:effectLst/>
                          <a:latin typeface="Arial" pitchFamily="34" charset="0"/>
                          <a:ea typeface="Batang" pitchFamily="18" charset="-127"/>
                          <a:cs typeface="Arial" pitchFamily="34" charset="0"/>
                        </a:rPr>
                        <a:t>Name of stakeholders</a:t>
                      </a:r>
                    </a:p>
                  </a:txBody>
                  <a:tcP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ko-KR" sz="1400" b="1" i="0" u="none" strike="noStrike" cap="none" normalizeH="0" baseline="0" dirty="0" smtClean="0">
                        <a:ln>
                          <a:noFill/>
                        </a:ln>
                        <a:solidFill>
                          <a:schemeClr val="tx1"/>
                        </a:solidFill>
                        <a:effectLst/>
                        <a:latin typeface="Arial" pitchFamily="34" charset="0"/>
                        <a:ea typeface="Batang" pitchFamily="18" charset="-127"/>
                        <a:cs typeface="Arial"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ko-KR" sz="1400" b="1" i="0" u="none" strike="noStrike" cap="none" normalizeH="0" baseline="0" dirty="0" smtClean="0">
                          <a:ln>
                            <a:noFill/>
                          </a:ln>
                          <a:solidFill>
                            <a:schemeClr val="tx1"/>
                          </a:solidFill>
                          <a:effectLst/>
                          <a:latin typeface="Arial" pitchFamily="34" charset="0"/>
                          <a:ea typeface="Batang" pitchFamily="18" charset="-127"/>
                          <a:cs typeface="Arial" pitchFamily="34" charset="0"/>
                        </a:rPr>
                        <a:t>e-mail address</a:t>
                      </a:r>
                    </a:p>
                  </a:txBody>
                  <a:tcP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ko-KR" sz="1400" b="1" i="0" u="none" strike="noStrike" cap="none" normalizeH="0" baseline="0" dirty="0" smtClean="0">
                        <a:ln>
                          <a:noFill/>
                        </a:ln>
                        <a:solidFill>
                          <a:schemeClr val="tx1"/>
                        </a:solidFill>
                        <a:effectLst/>
                        <a:latin typeface="Arial" pitchFamily="34" charset="0"/>
                        <a:ea typeface="Batang" pitchFamily="18" charset="-127"/>
                        <a:cs typeface="Arial"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ko-KR" sz="1400" b="1" i="0" u="none" strike="noStrike" cap="none" normalizeH="0" baseline="0" dirty="0" smtClean="0">
                          <a:ln>
                            <a:noFill/>
                          </a:ln>
                          <a:solidFill>
                            <a:schemeClr val="tx1"/>
                          </a:solidFill>
                          <a:effectLst/>
                          <a:latin typeface="Arial" pitchFamily="34" charset="0"/>
                          <a:ea typeface="Batang" pitchFamily="18" charset="-127"/>
                          <a:cs typeface="Arial" pitchFamily="34" charset="0"/>
                        </a:rPr>
                        <a:t>Phone number</a:t>
                      </a:r>
                    </a:p>
                  </a:txBody>
                  <a:tcP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ko-KR" sz="1400" b="1" i="0" u="none" strike="noStrike" cap="none" normalizeH="0" baseline="0" dirty="0" smtClean="0">
                          <a:ln>
                            <a:noFill/>
                          </a:ln>
                          <a:solidFill>
                            <a:schemeClr val="tx1"/>
                          </a:solidFill>
                          <a:effectLst/>
                          <a:latin typeface="Arial" pitchFamily="34" charset="0"/>
                          <a:ea typeface="Batang" pitchFamily="18" charset="-127"/>
                          <a:cs typeface="Arial" pitchFamily="34" charset="0"/>
                        </a:rPr>
                        <a:t>Relation to participant (boss, peer, direct report)</a:t>
                      </a:r>
                    </a:p>
                  </a:txBody>
                  <a:tcP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223041">
                <a:tc>
                  <a:txBody>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ko-KR" sz="1400" b="1" i="0" u="none" strike="noStrike" cap="none" normalizeH="0" baseline="0" smtClean="0">
                          <a:ln>
                            <a:noFill/>
                          </a:ln>
                          <a:solidFill>
                            <a:schemeClr val="tx1"/>
                          </a:solidFill>
                          <a:effectLst/>
                          <a:latin typeface="Arial" pitchFamily="34" charset="0"/>
                          <a:ea typeface="Batang" pitchFamily="18" charset="-127"/>
                          <a:cs typeface="Arial" pitchFamily="34" charset="0"/>
                        </a:rPr>
                        <a:t>1</a:t>
                      </a:r>
                    </a:p>
                  </a:txBody>
                  <a:tcP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ko-KR" sz="1400" b="1" i="0" u="none" strike="noStrike" cap="none" normalizeH="0" baseline="0" smtClean="0">
                          <a:ln>
                            <a:noFill/>
                          </a:ln>
                          <a:solidFill>
                            <a:schemeClr val="tx1"/>
                          </a:solidFill>
                          <a:effectLst/>
                          <a:latin typeface="Arial" pitchFamily="34" charset="0"/>
                          <a:ea typeface="굴림" pitchFamily="34" charset="-127"/>
                        </a:rPr>
                        <a:t>YOU</a:t>
                      </a:r>
                    </a:p>
                  </a:txBody>
                  <a:tcP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ko-KR" altLang="en-US" sz="1400" b="1" i="0" u="none" strike="noStrike" cap="none" normalizeH="0" baseline="0" smtClean="0">
                        <a:ln>
                          <a:noFill/>
                        </a:ln>
                        <a:solidFill>
                          <a:schemeClr val="tx1"/>
                        </a:solidFill>
                        <a:effectLst/>
                        <a:latin typeface="Arial" pitchFamily="34" charset="0"/>
                        <a:ea typeface="굴림" pitchFamily="34" charset="-127"/>
                      </a:endParaRPr>
                    </a:p>
                  </a:txBody>
                  <a:tcP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20000"/>
                        </a:lnSpc>
                        <a:spcBef>
                          <a:spcPct val="20000"/>
                        </a:spcBef>
                        <a:spcAft>
                          <a:spcPct val="0"/>
                        </a:spcAft>
                        <a:buClrTx/>
                        <a:buSzTx/>
                        <a:buFont typeface="Wingdings" pitchFamily="2" charset="2"/>
                        <a:buNone/>
                        <a:tabLst>
                          <a:tab pos="1944688" algn="l"/>
                        </a:tabLst>
                      </a:pPr>
                      <a:endParaRPr kumimoji="0" lang="ko-KR" altLang="en-US" sz="1400" b="1" i="0" u="none" strike="noStrike" cap="none" normalizeH="0" baseline="0" smtClean="0">
                        <a:ln>
                          <a:noFill/>
                        </a:ln>
                        <a:solidFill>
                          <a:schemeClr val="tx1"/>
                        </a:solidFill>
                        <a:effectLst/>
                        <a:latin typeface="Arial" pitchFamily="34" charset="0"/>
                        <a:ea typeface="굴림" pitchFamily="34" charset="-127"/>
                      </a:endParaRPr>
                    </a:p>
                  </a:txBody>
                  <a:tcP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ko-KR" sz="1400" b="1" i="0" u="none" strike="noStrike" cap="none" normalizeH="0" baseline="0" dirty="0" smtClean="0">
                          <a:ln>
                            <a:noFill/>
                          </a:ln>
                          <a:solidFill>
                            <a:schemeClr val="tx1"/>
                          </a:solidFill>
                          <a:effectLst/>
                          <a:latin typeface="Arial" pitchFamily="34" charset="0"/>
                          <a:ea typeface="Batang" pitchFamily="18" charset="-127"/>
                          <a:cs typeface="Arial" pitchFamily="34" charset="0"/>
                        </a:rPr>
                        <a:t>leader</a:t>
                      </a:r>
                    </a:p>
                  </a:txBody>
                  <a:tcP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223041">
                <a:tc>
                  <a:txBody>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ko-KR" sz="1400" b="1" i="0" u="none" strike="noStrike" cap="none" normalizeH="0" baseline="0" smtClean="0">
                          <a:ln>
                            <a:noFill/>
                          </a:ln>
                          <a:solidFill>
                            <a:schemeClr val="tx1"/>
                          </a:solidFill>
                          <a:effectLst/>
                          <a:latin typeface="Arial" pitchFamily="34" charset="0"/>
                          <a:ea typeface="Batang" pitchFamily="18" charset="-127"/>
                          <a:cs typeface="Arial" pitchFamily="34" charset="0"/>
                        </a:rPr>
                        <a:t>2</a:t>
                      </a:r>
                    </a:p>
                  </a:txBody>
                  <a:tcP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ko-KR" altLang="en-US" sz="1400" b="1" i="0" u="none" strike="noStrike" cap="none" normalizeH="0" baseline="0" smtClean="0">
                        <a:ln>
                          <a:noFill/>
                        </a:ln>
                        <a:solidFill>
                          <a:schemeClr val="tx1"/>
                        </a:solidFill>
                        <a:effectLst/>
                        <a:latin typeface="Arial" pitchFamily="34" charset="0"/>
                        <a:ea typeface="굴림" pitchFamily="34" charset="-127"/>
                      </a:endParaRPr>
                    </a:p>
                  </a:txBody>
                  <a:tcP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ko-KR" altLang="en-US" sz="1400" b="1" i="0" u="none" strike="noStrike" cap="none" normalizeH="0" baseline="0" smtClean="0">
                        <a:ln>
                          <a:noFill/>
                        </a:ln>
                        <a:solidFill>
                          <a:schemeClr val="tx1"/>
                        </a:solidFill>
                        <a:effectLst/>
                        <a:latin typeface="Arial" pitchFamily="34" charset="0"/>
                        <a:ea typeface="굴림" pitchFamily="34" charset="-127"/>
                      </a:endParaRPr>
                    </a:p>
                  </a:txBody>
                  <a:tcP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20000"/>
                        </a:lnSpc>
                        <a:spcBef>
                          <a:spcPct val="20000"/>
                        </a:spcBef>
                        <a:spcAft>
                          <a:spcPct val="0"/>
                        </a:spcAft>
                        <a:buClrTx/>
                        <a:buSzTx/>
                        <a:buFont typeface="Wingdings" pitchFamily="2" charset="2"/>
                        <a:buNone/>
                        <a:tabLst>
                          <a:tab pos="1944688" algn="l"/>
                        </a:tabLst>
                      </a:pPr>
                      <a:endParaRPr kumimoji="0" lang="ko-KR" altLang="en-US" sz="1400" b="1" i="0" u="none" strike="noStrike" cap="none" normalizeH="0" baseline="0" smtClean="0">
                        <a:ln>
                          <a:noFill/>
                        </a:ln>
                        <a:solidFill>
                          <a:schemeClr val="tx1"/>
                        </a:solidFill>
                        <a:effectLst/>
                        <a:latin typeface="Arial" pitchFamily="34" charset="0"/>
                        <a:ea typeface="굴림" pitchFamily="34" charset="-127"/>
                      </a:endParaRPr>
                    </a:p>
                  </a:txBody>
                  <a:tcP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ko-KR" sz="1400" b="1" i="0" u="none" strike="noStrike" cap="none" normalizeH="0" baseline="0" smtClean="0">
                          <a:ln>
                            <a:noFill/>
                          </a:ln>
                          <a:solidFill>
                            <a:schemeClr val="tx1"/>
                          </a:solidFill>
                          <a:effectLst/>
                          <a:latin typeface="Arial" pitchFamily="34" charset="0"/>
                          <a:ea typeface="Batang" pitchFamily="18" charset="-127"/>
                          <a:cs typeface="Arial" pitchFamily="34" charset="0"/>
                        </a:rPr>
                        <a:t>boss</a:t>
                      </a:r>
                    </a:p>
                  </a:txBody>
                  <a:tcP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223041">
                <a:tc>
                  <a:txBody>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ko-KR" sz="1400" b="1" i="0" u="none" strike="noStrike" cap="none" normalizeH="0" baseline="0" smtClean="0">
                          <a:ln>
                            <a:noFill/>
                          </a:ln>
                          <a:solidFill>
                            <a:schemeClr val="tx1"/>
                          </a:solidFill>
                          <a:effectLst/>
                          <a:latin typeface="Arial" pitchFamily="34" charset="0"/>
                          <a:ea typeface="Batang" pitchFamily="18" charset="-127"/>
                          <a:cs typeface="Arial" pitchFamily="34" charset="0"/>
                        </a:rPr>
                        <a:t>3</a:t>
                      </a:r>
                    </a:p>
                  </a:txBody>
                  <a:tcP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ko-KR" altLang="en-US" sz="1400" b="1" i="0" u="none" strike="noStrike" cap="none" normalizeH="0" baseline="0" smtClean="0">
                        <a:ln>
                          <a:noFill/>
                        </a:ln>
                        <a:solidFill>
                          <a:schemeClr val="tx1"/>
                        </a:solidFill>
                        <a:effectLst/>
                        <a:latin typeface="Arial" pitchFamily="34" charset="0"/>
                        <a:ea typeface="굴림" pitchFamily="34" charset="-127"/>
                      </a:endParaRPr>
                    </a:p>
                  </a:txBody>
                  <a:tcP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ko-KR" altLang="en-US" sz="1400" b="1" i="0" u="none" strike="noStrike" cap="none" normalizeH="0" baseline="0" smtClean="0">
                        <a:ln>
                          <a:noFill/>
                        </a:ln>
                        <a:solidFill>
                          <a:schemeClr val="tx1"/>
                        </a:solidFill>
                        <a:effectLst/>
                        <a:latin typeface="Arial" pitchFamily="34" charset="0"/>
                        <a:ea typeface="굴림" pitchFamily="34" charset="-127"/>
                      </a:endParaRPr>
                    </a:p>
                  </a:txBody>
                  <a:tcP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20000"/>
                        </a:lnSpc>
                        <a:spcBef>
                          <a:spcPct val="20000"/>
                        </a:spcBef>
                        <a:spcAft>
                          <a:spcPct val="0"/>
                        </a:spcAft>
                        <a:buClrTx/>
                        <a:buSzTx/>
                        <a:buFont typeface="Wingdings" pitchFamily="2" charset="2"/>
                        <a:buNone/>
                        <a:tabLst>
                          <a:tab pos="1944688" algn="l"/>
                        </a:tabLst>
                      </a:pPr>
                      <a:endParaRPr kumimoji="0" lang="ko-KR" altLang="en-US" sz="1400" b="1" i="0" u="none" strike="noStrike" cap="none" normalizeH="0" baseline="0" smtClean="0">
                        <a:ln>
                          <a:noFill/>
                        </a:ln>
                        <a:solidFill>
                          <a:schemeClr val="tx1"/>
                        </a:solidFill>
                        <a:effectLst/>
                        <a:latin typeface="Arial" pitchFamily="34" charset="0"/>
                        <a:ea typeface="굴림" pitchFamily="34" charset="-127"/>
                      </a:endParaRPr>
                    </a:p>
                  </a:txBody>
                  <a:tcP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ko-KR" sz="1400" b="1" i="0" u="none" strike="noStrike" cap="none" normalizeH="0" baseline="0" smtClean="0">
                          <a:ln>
                            <a:noFill/>
                          </a:ln>
                          <a:solidFill>
                            <a:schemeClr val="tx1"/>
                          </a:solidFill>
                          <a:effectLst/>
                          <a:latin typeface="Arial" pitchFamily="34" charset="0"/>
                          <a:ea typeface="Batang" pitchFamily="18" charset="-127"/>
                          <a:cs typeface="Arial" pitchFamily="34" charset="0"/>
                        </a:rPr>
                        <a:t>direct report</a:t>
                      </a:r>
                    </a:p>
                  </a:txBody>
                  <a:tcP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223041">
                <a:tc>
                  <a:txBody>
                    <a:bodyPr/>
                    <a:lstStyle/>
                    <a:p>
                      <a:pPr marL="0" marR="0" lvl="0" indent="0" algn="l" defTabSz="914400" rtl="0" eaLnBrk="0" fontAlgn="base" latinLnBrk="0" hangingPunct="0">
                        <a:lnSpc>
                          <a:spcPct val="120000"/>
                        </a:lnSpc>
                        <a:spcBef>
                          <a:spcPct val="20000"/>
                        </a:spcBef>
                        <a:spcAft>
                          <a:spcPct val="0"/>
                        </a:spcAft>
                        <a:buClrTx/>
                        <a:buSzTx/>
                        <a:buFont typeface="Wingdings" pitchFamily="2" charset="2"/>
                        <a:buNone/>
                        <a:tabLst>
                          <a:tab pos="1944688" algn="l"/>
                        </a:tabLst>
                      </a:pPr>
                      <a:r>
                        <a:rPr kumimoji="0" lang="en-US" altLang="ko-KR" sz="1400" b="1" i="0" u="none" strike="noStrike" cap="none" normalizeH="0" baseline="0" smtClean="0">
                          <a:ln>
                            <a:noFill/>
                          </a:ln>
                          <a:solidFill>
                            <a:schemeClr val="tx1"/>
                          </a:solidFill>
                          <a:effectLst/>
                          <a:latin typeface="Arial" pitchFamily="34" charset="0"/>
                          <a:ea typeface="굴림" pitchFamily="34" charset="-127"/>
                        </a:rPr>
                        <a:t>4</a:t>
                      </a:r>
                    </a:p>
                  </a:txBody>
                  <a:tcP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ko-KR" altLang="en-US" sz="1400" b="1" i="0" u="none" strike="noStrike" cap="none" normalizeH="0" baseline="0" smtClean="0">
                        <a:ln>
                          <a:noFill/>
                        </a:ln>
                        <a:solidFill>
                          <a:schemeClr val="tx1"/>
                        </a:solidFill>
                        <a:effectLst/>
                        <a:latin typeface="Arial" pitchFamily="34" charset="0"/>
                        <a:ea typeface="굴림" pitchFamily="34" charset="-127"/>
                      </a:endParaRPr>
                    </a:p>
                  </a:txBody>
                  <a:tcP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20000"/>
                        </a:lnSpc>
                        <a:spcBef>
                          <a:spcPct val="20000"/>
                        </a:spcBef>
                        <a:spcAft>
                          <a:spcPct val="0"/>
                        </a:spcAft>
                        <a:buClrTx/>
                        <a:buSzTx/>
                        <a:buFont typeface="Wingdings" pitchFamily="2" charset="2"/>
                        <a:buNone/>
                        <a:tabLst>
                          <a:tab pos="1944688" algn="l"/>
                        </a:tabLst>
                      </a:pPr>
                      <a:r>
                        <a:rPr kumimoji="0" lang="en-US" altLang="zh-CN" sz="1400" b="1" i="0" u="sng" strike="noStrike" cap="none" normalizeH="0" baseline="0" dirty="0" smtClean="0">
                          <a:ln>
                            <a:noFill/>
                          </a:ln>
                          <a:solidFill>
                            <a:srgbClr val="005246"/>
                          </a:solidFill>
                          <a:effectLst/>
                          <a:latin typeface="Arial" pitchFamily="34" charset="0"/>
                          <a:ea typeface="굴림" pitchFamily="34" charset="-127"/>
                        </a:rPr>
                        <a:t>5</a:t>
                      </a:r>
                      <a:r>
                        <a:rPr kumimoji="0" lang="en-US" altLang="ko-KR" sz="1400" b="1" i="0" u="sng" strike="noStrike" cap="none" normalizeH="0" baseline="0" dirty="0" smtClean="0">
                          <a:ln>
                            <a:noFill/>
                          </a:ln>
                          <a:solidFill>
                            <a:srgbClr val="005246"/>
                          </a:solidFill>
                          <a:effectLst/>
                          <a:latin typeface="Arial" pitchFamily="34" charset="0"/>
                          <a:ea typeface="굴림" pitchFamily="34" charset="-127"/>
                        </a:rPr>
                        <a:t>-</a:t>
                      </a:r>
                      <a:r>
                        <a:rPr kumimoji="0" lang="en-US" altLang="zh-CN" sz="1400" b="1" i="0" u="sng" strike="noStrike" cap="none" normalizeH="0" baseline="0" dirty="0" smtClean="0">
                          <a:ln>
                            <a:noFill/>
                          </a:ln>
                          <a:solidFill>
                            <a:srgbClr val="005246"/>
                          </a:solidFill>
                          <a:effectLst/>
                          <a:latin typeface="Arial" pitchFamily="34" charset="0"/>
                          <a:ea typeface="굴림" pitchFamily="34" charset="-127"/>
                        </a:rPr>
                        <a:t>7</a:t>
                      </a:r>
                      <a:r>
                        <a:rPr kumimoji="0" lang="en-US" altLang="ko-KR" sz="1400" b="1" i="0" u="sng" strike="noStrike" cap="none" normalizeH="0" baseline="0" dirty="0" smtClean="0">
                          <a:ln>
                            <a:noFill/>
                          </a:ln>
                          <a:solidFill>
                            <a:srgbClr val="005246"/>
                          </a:solidFill>
                          <a:effectLst/>
                          <a:latin typeface="Arial" pitchFamily="34" charset="0"/>
                          <a:ea typeface="굴림" pitchFamily="34" charset="-127"/>
                        </a:rPr>
                        <a:t> stakeholders is manageable</a:t>
                      </a:r>
                    </a:p>
                  </a:txBody>
                  <a:tcP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20000"/>
                        </a:lnSpc>
                        <a:spcBef>
                          <a:spcPct val="20000"/>
                        </a:spcBef>
                        <a:spcAft>
                          <a:spcPct val="0"/>
                        </a:spcAft>
                        <a:buClrTx/>
                        <a:buSzTx/>
                        <a:buFont typeface="Wingdings" pitchFamily="2" charset="2"/>
                        <a:buNone/>
                        <a:tabLst>
                          <a:tab pos="1944688" algn="l"/>
                        </a:tabLst>
                      </a:pPr>
                      <a:endParaRPr kumimoji="0" lang="ko-KR" altLang="en-US" sz="1400" b="1" i="0" u="none" strike="noStrike" cap="none" normalizeH="0" baseline="0" smtClean="0">
                        <a:ln>
                          <a:noFill/>
                        </a:ln>
                        <a:solidFill>
                          <a:schemeClr val="tx1"/>
                        </a:solidFill>
                        <a:effectLst/>
                        <a:latin typeface="Arial" pitchFamily="34" charset="0"/>
                        <a:ea typeface="굴림" pitchFamily="34" charset="-127"/>
                      </a:endParaRPr>
                    </a:p>
                  </a:txBody>
                  <a:tcP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ko-KR" sz="1400" b="1" i="0" u="none" strike="noStrike" cap="none" normalizeH="0" baseline="0" smtClean="0">
                          <a:ln>
                            <a:noFill/>
                          </a:ln>
                          <a:solidFill>
                            <a:schemeClr val="tx1"/>
                          </a:solidFill>
                          <a:effectLst/>
                          <a:latin typeface="Arial" pitchFamily="34" charset="0"/>
                          <a:ea typeface="Batang" pitchFamily="18" charset="-127"/>
                          <a:cs typeface="Arial" pitchFamily="34" charset="0"/>
                        </a:rPr>
                        <a:t>direct report</a:t>
                      </a:r>
                    </a:p>
                  </a:txBody>
                  <a:tcP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223041">
                <a:tc>
                  <a:txBody>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ko-KR" sz="1400" b="1" i="0" u="none" strike="noStrike" cap="none" normalizeH="0" baseline="0" dirty="0" smtClean="0">
                          <a:ln>
                            <a:noFill/>
                          </a:ln>
                          <a:solidFill>
                            <a:schemeClr val="tx1"/>
                          </a:solidFill>
                          <a:effectLst/>
                          <a:latin typeface="Arial" pitchFamily="34" charset="0"/>
                          <a:ea typeface="Batang" pitchFamily="18" charset="-127"/>
                          <a:cs typeface="Arial" pitchFamily="34" charset="0"/>
                        </a:rPr>
                        <a:t>5</a:t>
                      </a:r>
                    </a:p>
                  </a:txBody>
                  <a:tcP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ko-KR" altLang="en-US" sz="1400" b="1" i="0" u="none" strike="noStrike" cap="none" normalizeH="0" baseline="0" smtClean="0">
                        <a:ln>
                          <a:noFill/>
                        </a:ln>
                        <a:solidFill>
                          <a:schemeClr val="tx1"/>
                        </a:solidFill>
                        <a:effectLst/>
                        <a:latin typeface="Arial" pitchFamily="34" charset="0"/>
                        <a:ea typeface="굴림" pitchFamily="34" charset="-127"/>
                      </a:endParaRPr>
                    </a:p>
                  </a:txBody>
                  <a:tcP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ko-KR" altLang="en-US" sz="1400" b="1" i="0" u="none" strike="noStrike" cap="none" normalizeH="0" baseline="0" smtClean="0">
                        <a:ln>
                          <a:noFill/>
                        </a:ln>
                        <a:solidFill>
                          <a:schemeClr val="tx1"/>
                        </a:solidFill>
                        <a:effectLst/>
                        <a:latin typeface="Arial" pitchFamily="34" charset="0"/>
                        <a:ea typeface="굴림" pitchFamily="34" charset="-127"/>
                      </a:endParaRPr>
                    </a:p>
                  </a:txBody>
                  <a:tcP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20000"/>
                        </a:lnSpc>
                        <a:spcBef>
                          <a:spcPct val="20000"/>
                        </a:spcBef>
                        <a:spcAft>
                          <a:spcPct val="0"/>
                        </a:spcAft>
                        <a:buClrTx/>
                        <a:buSzTx/>
                        <a:buFont typeface="Wingdings" pitchFamily="2" charset="2"/>
                        <a:buNone/>
                        <a:tabLst>
                          <a:tab pos="1944688" algn="l"/>
                        </a:tabLst>
                      </a:pPr>
                      <a:endParaRPr kumimoji="0" lang="ko-KR" altLang="en-US" sz="1400" b="1" i="0" u="none" strike="noStrike" cap="none" normalizeH="0" baseline="0" smtClean="0">
                        <a:ln>
                          <a:noFill/>
                        </a:ln>
                        <a:solidFill>
                          <a:schemeClr val="tx1"/>
                        </a:solidFill>
                        <a:effectLst/>
                        <a:latin typeface="Arial" pitchFamily="34" charset="0"/>
                        <a:ea typeface="굴림" pitchFamily="34" charset="-127"/>
                      </a:endParaRPr>
                    </a:p>
                  </a:txBody>
                  <a:tcP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ko-KR" sz="1400" b="1" i="0" u="none" strike="noStrike" cap="none" normalizeH="0" baseline="0" dirty="0" smtClean="0">
                          <a:ln>
                            <a:noFill/>
                          </a:ln>
                          <a:solidFill>
                            <a:schemeClr val="tx1"/>
                          </a:solidFill>
                          <a:effectLst/>
                          <a:latin typeface="Arial" pitchFamily="34" charset="0"/>
                          <a:ea typeface="Batang" pitchFamily="18" charset="-127"/>
                          <a:cs typeface="Arial" pitchFamily="34" charset="0"/>
                        </a:rPr>
                        <a:t>direct report</a:t>
                      </a:r>
                    </a:p>
                  </a:txBody>
                  <a:tcP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223041">
                <a:tc>
                  <a:txBody>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ko-KR" sz="1400" b="1" i="0" u="none" strike="noStrike" cap="none" normalizeH="0" baseline="0" smtClean="0">
                          <a:ln>
                            <a:noFill/>
                          </a:ln>
                          <a:solidFill>
                            <a:schemeClr val="tx1"/>
                          </a:solidFill>
                          <a:effectLst/>
                          <a:latin typeface="Arial" pitchFamily="34" charset="0"/>
                          <a:ea typeface="Batang" pitchFamily="18" charset="-127"/>
                          <a:cs typeface="Arial" pitchFamily="34" charset="0"/>
                        </a:rPr>
                        <a:t>6</a:t>
                      </a:r>
                    </a:p>
                  </a:txBody>
                  <a:tcP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ko-KR" altLang="en-US" sz="1400" b="1" i="0" u="none" strike="noStrike" cap="none" normalizeH="0" baseline="0" smtClean="0">
                        <a:ln>
                          <a:noFill/>
                        </a:ln>
                        <a:solidFill>
                          <a:schemeClr val="tx1"/>
                        </a:solidFill>
                        <a:effectLst/>
                        <a:latin typeface="Arial" pitchFamily="34" charset="0"/>
                        <a:ea typeface="굴림" pitchFamily="34" charset="-127"/>
                      </a:endParaRPr>
                    </a:p>
                  </a:txBody>
                  <a:tcP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ko-KR" altLang="en-US" sz="1400" b="1" i="0" u="none" strike="noStrike" cap="none" normalizeH="0" baseline="0" smtClean="0">
                        <a:ln>
                          <a:noFill/>
                        </a:ln>
                        <a:solidFill>
                          <a:schemeClr val="tx1"/>
                        </a:solidFill>
                        <a:effectLst/>
                        <a:latin typeface="Arial" pitchFamily="34" charset="0"/>
                        <a:ea typeface="굴림" pitchFamily="34" charset="-127"/>
                      </a:endParaRPr>
                    </a:p>
                  </a:txBody>
                  <a:tcP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20000"/>
                        </a:lnSpc>
                        <a:spcBef>
                          <a:spcPct val="20000"/>
                        </a:spcBef>
                        <a:spcAft>
                          <a:spcPct val="0"/>
                        </a:spcAft>
                        <a:buClrTx/>
                        <a:buSzTx/>
                        <a:buFont typeface="Wingdings" pitchFamily="2" charset="2"/>
                        <a:buNone/>
                        <a:tabLst>
                          <a:tab pos="1944688" algn="l"/>
                        </a:tabLst>
                      </a:pPr>
                      <a:endParaRPr kumimoji="0" lang="ko-KR" altLang="en-US" sz="1400" b="1" i="0" u="none" strike="noStrike" cap="none" normalizeH="0" baseline="0" smtClean="0">
                        <a:ln>
                          <a:noFill/>
                        </a:ln>
                        <a:solidFill>
                          <a:schemeClr val="tx1"/>
                        </a:solidFill>
                        <a:effectLst/>
                        <a:latin typeface="Arial" pitchFamily="34" charset="0"/>
                        <a:ea typeface="굴림" pitchFamily="34" charset="-127"/>
                      </a:endParaRPr>
                    </a:p>
                  </a:txBody>
                  <a:tcP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ko-KR" sz="1400" b="1" i="0" u="none" strike="noStrike" cap="none" normalizeH="0" baseline="0" dirty="0" smtClean="0">
                          <a:ln>
                            <a:noFill/>
                          </a:ln>
                          <a:solidFill>
                            <a:schemeClr val="tx1"/>
                          </a:solidFill>
                          <a:effectLst/>
                          <a:latin typeface="Arial" pitchFamily="34" charset="0"/>
                          <a:ea typeface="Batang" pitchFamily="18" charset="-127"/>
                          <a:cs typeface="Arial" pitchFamily="34" charset="0"/>
                        </a:rPr>
                        <a:t>peer</a:t>
                      </a:r>
                    </a:p>
                  </a:txBody>
                  <a:tcP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bl>
          </a:graphicData>
        </a:graphic>
      </p:graphicFrame>
      <p:pic>
        <p:nvPicPr>
          <p:cNvPr id="5" name="Picture 14" descr="feedback"/>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9174412" y="872182"/>
            <a:ext cx="1795462" cy="1168400"/>
          </a:xfrm>
          <a:prstGeom prst="rect">
            <a:avLst/>
          </a:prstGeom>
          <a:noFill/>
          <a:ln w="9525">
            <a:noFill/>
            <a:miter lim="800000"/>
            <a:headEnd/>
            <a:tailEnd/>
          </a:ln>
        </p:spPr>
      </p:pic>
    </p:spTree>
    <p:extLst>
      <p:ext uri="{BB962C8B-B14F-4D97-AF65-F5344CB8AC3E}">
        <p14:creationId xmlns:p14="http://schemas.microsoft.com/office/powerpoint/2010/main" val="3433826048"/>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717" name="Rectangle 2"/>
          <p:cNvSpPr>
            <a:spLocks noGrp="1" noChangeArrowheads="1"/>
          </p:cNvSpPr>
          <p:nvPr>
            <p:ph type="title"/>
          </p:nvPr>
        </p:nvSpPr>
        <p:spPr>
          <a:xfrm>
            <a:off x="1524000" y="454155"/>
            <a:ext cx="9144000" cy="461665"/>
          </a:xfrm>
        </p:spPr>
        <p:txBody>
          <a:bodyPr>
            <a:noAutofit/>
          </a:bodyPr>
          <a:lstStyle/>
          <a:p>
            <a:r>
              <a:rPr lang="en-US" sz="3600" b="1" dirty="0" smtClean="0"/>
              <a:t>My </a:t>
            </a:r>
            <a:r>
              <a:rPr lang="en-US" sz="3600" b="1" dirty="0"/>
              <a:t>Leadership Growth </a:t>
            </a:r>
            <a:r>
              <a:rPr lang="en-US" sz="3600" b="1" dirty="0" smtClean="0"/>
              <a:t>Areas</a:t>
            </a:r>
            <a:endParaRPr lang="en-US" altLang="ko-KR" sz="3600" b="1" dirty="0" smtClean="0">
              <a:ea typeface="굴림" pitchFamily="34" charset="-127"/>
            </a:endParaRPr>
          </a:p>
        </p:txBody>
      </p:sp>
      <p:sp>
        <p:nvSpPr>
          <p:cNvPr id="115718" name="Rectangle 3"/>
          <p:cNvSpPr>
            <a:spLocks noGrp="1" noChangeArrowheads="1"/>
          </p:cNvSpPr>
          <p:nvPr>
            <p:ph idx="1"/>
          </p:nvPr>
        </p:nvSpPr>
        <p:spPr>
          <a:xfrm>
            <a:off x="1801813" y="1381611"/>
            <a:ext cx="8866187" cy="4105739"/>
          </a:xfrm>
        </p:spPr>
        <p:txBody>
          <a:bodyPr>
            <a:noAutofit/>
          </a:bodyPr>
          <a:lstStyle/>
          <a:p>
            <a:pPr marL="304800" indent="-304800">
              <a:lnSpc>
                <a:spcPct val="130000"/>
              </a:lnSpc>
              <a:buNone/>
            </a:pPr>
            <a:endParaRPr lang="en-US" altLang="ko-KR" sz="2000" dirty="0" smtClean="0">
              <a:ea typeface="굴림" pitchFamily="34" charset="-127"/>
            </a:endParaRPr>
          </a:p>
          <a:p>
            <a:pPr marL="304800" indent="-304800">
              <a:lnSpc>
                <a:spcPct val="130000"/>
              </a:lnSpc>
              <a:buNone/>
            </a:pPr>
            <a:r>
              <a:rPr lang="en-US" altLang="ko-KR" sz="2000" dirty="0" smtClean="0">
                <a:ea typeface="굴림" pitchFamily="34" charset="-127"/>
              </a:rPr>
              <a:t>360</a:t>
            </a:r>
            <a:r>
              <a:rPr lang="en-US" altLang="ko-KR" sz="2000" baseline="30000" dirty="0" smtClean="0">
                <a:ea typeface="굴림" pitchFamily="34" charset="-127"/>
              </a:rPr>
              <a:t>0</a:t>
            </a:r>
            <a:r>
              <a:rPr lang="en-US" altLang="ko-KR" sz="2000" dirty="0" smtClean="0">
                <a:ea typeface="굴림" pitchFamily="34" charset="-127"/>
              </a:rPr>
              <a:t> feedback summarized strengths – weaknesses – areas to develop:</a:t>
            </a:r>
          </a:p>
          <a:p>
            <a:pPr marL="304800" indent="-304800">
              <a:lnSpc>
                <a:spcPct val="130000"/>
              </a:lnSpc>
              <a:buFont typeface="Wingdings" pitchFamily="2" charset="2"/>
              <a:buChar char="Ø"/>
            </a:pPr>
            <a:r>
              <a:rPr lang="en-US" altLang="ko-KR" sz="2000" dirty="0" smtClean="0">
                <a:ea typeface="굴림" pitchFamily="34" charset="-127"/>
              </a:rPr>
              <a:t>Structured assessment</a:t>
            </a:r>
          </a:p>
          <a:p>
            <a:pPr marL="304800" indent="-304800">
              <a:lnSpc>
                <a:spcPct val="130000"/>
              </a:lnSpc>
              <a:buFont typeface="Wingdings" pitchFamily="2" charset="2"/>
              <a:buChar char="Ø"/>
            </a:pPr>
            <a:r>
              <a:rPr lang="en-US" altLang="ko-KR" sz="2000" dirty="0" smtClean="0">
                <a:ea typeface="굴림" pitchFamily="34" charset="-127"/>
              </a:rPr>
              <a:t>Behavioral interviews</a:t>
            </a:r>
          </a:p>
          <a:p>
            <a:pPr marL="304800" indent="-304800">
              <a:lnSpc>
                <a:spcPct val="130000"/>
              </a:lnSpc>
              <a:buNone/>
            </a:pPr>
            <a:endParaRPr lang="en-US" altLang="ko-KR" sz="2000" dirty="0" smtClean="0">
              <a:ea typeface="굴림" pitchFamily="34" charset="-127"/>
            </a:endParaRPr>
          </a:p>
          <a:p>
            <a:pPr marL="304800" indent="-304800">
              <a:lnSpc>
                <a:spcPct val="130000"/>
              </a:lnSpc>
              <a:buNone/>
            </a:pPr>
            <a:r>
              <a:rPr lang="en-US" altLang="ko-KR" sz="2000" dirty="0" smtClean="0">
                <a:ea typeface="굴림" pitchFamily="34" charset="-127"/>
              </a:rPr>
              <a:t>I selected the following Leadership Growth Areas:</a:t>
            </a:r>
          </a:p>
          <a:p>
            <a:pPr marL="304800" indent="-304800">
              <a:lnSpc>
                <a:spcPct val="130000"/>
              </a:lnSpc>
              <a:buFont typeface="Wingdings" pitchFamily="2" charset="2"/>
              <a:buAutoNum type="arabicPeriod"/>
            </a:pPr>
            <a:r>
              <a:rPr lang="en-US" altLang="ko-KR" sz="2000" dirty="0" smtClean="0">
                <a:solidFill>
                  <a:srgbClr val="0070C0"/>
                </a:solidFill>
                <a:ea typeface="굴림" pitchFamily="34" charset="-127"/>
              </a:rPr>
              <a:t> …. Be a better listener  ….</a:t>
            </a:r>
          </a:p>
          <a:p>
            <a:pPr marL="304800" indent="-304800">
              <a:lnSpc>
                <a:spcPct val="130000"/>
              </a:lnSpc>
              <a:buFont typeface="Wingdings" pitchFamily="2" charset="2"/>
              <a:buAutoNum type="arabicPeriod"/>
            </a:pPr>
            <a:r>
              <a:rPr lang="en-US" altLang="ko-KR" sz="2000" dirty="0" smtClean="0">
                <a:solidFill>
                  <a:srgbClr val="0070C0"/>
                </a:solidFill>
                <a:ea typeface="굴림" pitchFamily="34" charset="-127"/>
              </a:rPr>
              <a:t>… Delegate better …</a:t>
            </a:r>
          </a:p>
        </p:txBody>
      </p:sp>
      <p:sp>
        <p:nvSpPr>
          <p:cNvPr id="115720" name="AutoShape 17"/>
          <p:cNvSpPr>
            <a:spLocks noChangeArrowheads="1"/>
          </p:cNvSpPr>
          <p:nvPr/>
        </p:nvSpPr>
        <p:spPr bwMode="auto">
          <a:xfrm>
            <a:off x="4989509" y="4731116"/>
            <a:ext cx="4543116" cy="384155"/>
          </a:xfrm>
          <a:prstGeom prst="leftArrow">
            <a:avLst>
              <a:gd name="adj1" fmla="val 71528"/>
              <a:gd name="adj2" fmla="val 82463"/>
            </a:avLst>
          </a:prstGeom>
          <a:solidFill>
            <a:srgbClr val="FF0000">
              <a:alpha val="50195"/>
            </a:srgbClr>
          </a:solidFill>
          <a:ln w="34925">
            <a:noFill/>
            <a:miter lim="800000"/>
            <a:headEnd/>
            <a:tailEnd/>
          </a:ln>
        </p:spPr>
        <p:txBody>
          <a:bodyPr wrap="square" lIns="0" tIns="0" rIns="0" bIns="0" anchor="ctr">
            <a:spAutoFit/>
          </a:bodyPr>
          <a:lstStyle/>
          <a:p>
            <a:pPr algn="ctr">
              <a:spcBef>
                <a:spcPct val="50000"/>
              </a:spcBef>
            </a:pPr>
            <a:r>
              <a:rPr lang="en-US" dirty="0"/>
              <a:t>Put YOUR 1 or 2 leadership growth areas here</a:t>
            </a:r>
          </a:p>
        </p:txBody>
      </p:sp>
      <p:grpSp>
        <p:nvGrpSpPr>
          <p:cNvPr id="14" name="Group 4"/>
          <p:cNvGrpSpPr>
            <a:grpSpLocks/>
          </p:cNvGrpSpPr>
          <p:nvPr/>
        </p:nvGrpSpPr>
        <p:grpSpPr bwMode="auto">
          <a:xfrm>
            <a:off x="7805584" y="2764317"/>
            <a:ext cx="3357974" cy="3188824"/>
            <a:chOff x="3318" y="1423"/>
            <a:chExt cx="2306" cy="2410"/>
          </a:xfrm>
        </p:grpSpPr>
        <p:sp>
          <p:nvSpPr>
            <p:cNvPr id="15" name="Oval 5" descr="90%"/>
            <p:cNvSpPr>
              <a:spLocks noChangeArrowheads="1"/>
            </p:cNvSpPr>
            <p:nvPr/>
          </p:nvSpPr>
          <p:spPr bwMode="auto">
            <a:xfrm>
              <a:off x="4581" y="2328"/>
              <a:ext cx="1026" cy="425"/>
            </a:xfrm>
            <a:prstGeom prst="ellipse">
              <a:avLst/>
            </a:prstGeom>
            <a:pattFill prst="pct90">
              <a:fgClr>
                <a:srgbClr val="008000"/>
              </a:fgClr>
              <a:bgClr>
                <a:srgbClr val="5F5F5F"/>
              </a:bgClr>
            </a:pattFill>
            <a:ln w="34925">
              <a:noFill/>
              <a:round/>
              <a:headEnd/>
              <a:tailEnd/>
            </a:ln>
          </p:spPr>
          <p:txBody>
            <a:bodyPr anchor="ctr">
              <a:spAutoFit/>
            </a:bodyPr>
            <a:lstStyle/>
            <a:p>
              <a:pPr algn="ctr"/>
              <a:r>
                <a:rPr lang="en-US" altLang="ko-KR" sz="2000" dirty="0">
                  <a:solidFill>
                    <a:schemeClr val="bg1"/>
                  </a:solidFill>
                  <a:ea typeface="굴림" pitchFamily="34" charset="-127"/>
                </a:rPr>
                <a:t>YOU</a:t>
              </a:r>
            </a:p>
          </p:txBody>
        </p:sp>
        <p:sp>
          <p:nvSpPr>
            <p:cNvPr id="16" name="Oval 6"/>
            <p:cNvSpPr>
              <a:spLocks noChangeArrowheads="1"/>
            </p:cNvSpPr>
            <p:nvPr/>
          </p:nvSpPr>
          <p:spPr bwMode="auto">
            <a:xfrm>
              <a:off x="3318" y="2334"/>
              <a:ext cx="730" cy="425"/>
            </a:xfrm>
            <a:prstGeom prst="ellipse">
              <a:avLst/>
            </a:prstGeom>
            <a:solidFill>
              <a:srgbClr val="FFCC00"/>
            </a:solidFill>
            <a:ln w="34925">
              <a:noFill/>
              <a:round/>
              <a:headEnd/>
              <a:tailEnd/>
            </a:ln>
          </p:spPr>
          <p:txBody>
            <a:bodyPr wrap="none" anchor="ctr">
              <a:spAutoFit/>
            </a:bodyPr>
            <a:lstStyle/>
            <a:p>
              <a:pPr algn="ctr"/>
              <a:r>
                <a:rPr lang="en-US" altLang="ko-KR" sz="2000">
                  <a:solidFill>
                    <a:schemeClr val="bg1"/>
                  </a:solidFill>
                  <a:ea typeface="굴림" pitchFamily="34" charset="-127"/>
                </a:rPr>
                <a:t>Peers</a:t>
              </a:r>
            </a:p>
          </p:txBody>
        </p:sp>
        <p:sp>
          <p:nvSpPr>
            <p:cNvPr id="17" name="Oval 7"/>
            <p:cNvSpPr>
              <a:spLocks noChangeArrowheads="1"/>
            </p:cNvSpPr>
            <p:nvPr/>
          </p:nvSpPr>
          <p:spPr bwMode="auto">
            <a:xfrm>
              <a:off x="4463" y="3179"/>
              <a:ext cx="1159" cy="654"/>
            </a:xfrm>
            <a:prstGeom prst="ellipse">
              <a:avLst/>
            </a:prstGeom>
            <a:solidFill>
              <a:srgbClr val="FF0000"/>
            </a:solidFill>
            <a:ln w="34925">
              <a:noFill/>
              <a:round/>
              <a:headEnd/>
              <a:tailEnd/>
            </a:ln>
          </p:spPr>
          <p:txBody>
            <a:bodyPr lIns="0" tIns="0" rIns="0" bIns="0" anchor="ctr">
              <a:spAutoFit/>
            </a:bodyPr>
            <a:lstStyle/>
            <a:p>
              <a:pPr algn="ctr"/>
              <a:r>
                <a:rPr lang="en-US" altLang="ko-KR" sz="2000" dirty="0">
                  <a:solidFill>
                    <a:schemeClr val="bg1"/>
                  </a:solidFill>
                  <a:ea typeface="굴림" pitchFamily="34" charset="-127"/>
                </a:rPr>
                <a:t>Direct </a:t>
              </a:r>
            </a:p>
            <a:p>
              <a:pPr algn="ctr"/>
              <a:r>
                <a:rPr lang="en-US" altLang="ko-KR" sz="2000" dirty="0">
                  <a:solidFill>
                    <a:schemeClr val="bg1"/>
                  </a:solidFill>
                  <a:ea typeface="굴림" pitchFamily="34" charset="-127"/>
                </a:rPr>
                <a:t>Reports</a:t>
              </a:r>
            </a:p>
          </p:txBody>
        </p:sp>
        <p:sp>
          <p:nvSpPr>
            <p:cNvPr id="18" name="Oval 8"/>
            <p:cNvSpPr>
              <a:spLocks noChangeArrowheads="1"/>
            </p:cNvSpPr>
            <p:nvPr/>
          </p:nvSpPr>
          <p:spPr bwMode="auto">
            <a:xfrm>
              <a:off x="4234" y="1423"/>
              <a:ext cx="1390" cy="523"/>
            </a:xfrm>
            <a:prstGeom prst="ellipse">
              <a:avLst/>
            </a:prstGeom>
            <a:solidFill>
              <a:srgbClr val="000080"/>
            </a:solidFill>
            <a:ln w="34925">
              <a:noFill/>
              <a:round/>
              <a:headEnd/>
              <a:tailEnd/>
            </a:ln>
          </p:spPr>
          <p:txBody>
            <a:bodyPr wrap="square" lIns="0" tIns="91440" rIns="0" bIns="91440" anchor="ctr">
              <a:spAutoFit/>
            </a:bodyPr>
            <a:lstStyle/>
            <a:p>
              <a:pPr algn="ctr"/>
              <a:r>
                <a:rPr lang="en-US" altLang="ko-KR" sz="2000" dirty="0">
                  <a:solidFill>
                    <a:schemeClr val="bg1"/>
                  </a:solidFill>
                  <a:ea typeface="굴림" pitchFamily="34" charset="-127"/>
                </a:rPr>
                <a:t>Superior(s)</a:t>
              </a:r>
            </a:p>
          </p:txBody>
        </p:sp>
        <p:sp>
          <p:nvSpPr>
            <p:cNvPr id="19" name="AutoShape 9"/>
            <p:cNvSpPr>
              <a:spLocks noChangeArrowheads="1"/>
            </p:cNvSpPr>
            <p:nvPr/>
          </p:nvSpPr>
          <p:spPr bwMode="auto">
            <a:xfrm rot="5400000">
              <a:off x="4820" y="2018"/>
              <a:ext cx="310" cy="201"/>
            </a:xfrm>
            <a:prstGeom prst="notchedRightArrow">
              <a:avLst>
                <a:gd name="adj1" fmla="val 50000"/>
                <a:gd name="adj2" fmla="val 31504"/>
              </a:avLst>
            </a:prstGeom>
            <a:solidFill>
              <a:srgbClr val="004C00"/>
            </a:solidFill>
            <a:ln w="34925">
              <a:solidFill>
                <a:schemeClr val="bg1"/>
              </a:solidFill>
              <a:miter lim="800000"/>
              <a:headEnd/>
              <a:tailEnd/>
            </a:ln>
          </p:spPr>
          <p:txBody>
            <a:bodyPr wrap="none" anchor="ctr">
              <a:noAutofit/>
            </a:bodyPr>
            <a:lstStyle/>
            <a:p>
              <a:endParaRPr lang="en-US" sz="2000"/>
            </a:p>
          </p:txBody>
        </p:sp>
        <p:sp>
          <p:nvSpPr>
            <p:cNvPr id="20" name="AutoShape 10"/>
            <p:cNvSpPr>
              <a:spLocks noChangeArrowheads="1"/>
            </p:cNvSpPr>
            <p:nvPr/>
          </p:nvSpPr>
          <p:spPr bwMode="auto">
            <a:xfrm rot="16200000">
              <a:off x="4842" y="2835"/>
              <a:ext cx="293" cy="201"/>
            </a:xfrm>
            <a:prstGeom prst="notchedRightArrow">
              <a:avLst>
                <a:gd name="adj1" fmla="val 50000"/>
                <a:gd name="adj2" fmla="val 29776"/>
              </a:avLst>
            </a:prstGeom>
            <a:solidFill>
              <a:srgbClr val="004C00"/>
            </a:solidFill>
            <a:ln w="34925" algn="ctr">
              <a:solidFill>
                <a:schemeClr val="bg1"/>
              </a:solidFill>
              <a:miter lim="800000"/>
              <a:headEnd/>
              <a:tailEnd/>
            </a:ln>
          </p:spPr>
          <p:txBody>
            <a:bodyPr wrap="none" anchor="ctr">
              <a:noAutofit/>
            </a:bodyPr>
            <a:lstStyle/>
            <a:p>
              <a:endParaRPr lang="en-US" sz="2000"/>
            </a:p>
          </p:txBody>
        </p:sp>
        <p:sp>
          <p:nvSpPr>
            <p:cNvPr id="21" name="AutoShape 11"/>
            <p:cNvSpPr>
              <a:spLocks noChangeArrowheads="1"/>
            </p:cNvSpPr>
            <p:nvPr/>
          </p:nvSpPr>
          <p:spPr bwMode="auto">
            <a:xfrm>
              <a:off x="4202" y="2450"/>
              <a:ext cx="302" cy="237"/>
            </a:xfrm>
            <a:prstGeom prst="notchedRightArrow">
              <a:avLst>
                <a:gd name="adj1" fmla="val 50000"/>
                <a:gd name="adj2" fmla="val 30691"/>
              </a:avLst>
            </a:prstGeom>
            <a:solidFill>
              <a:srgbClr val="004C00"/>
            </a:solidFill>
            <a:ln w="34925" algn="ctr">
              <a:solidFill>
                <a:schemeClr val="bg1"/>
              </a:solidFill>
              <a:miter lim="800000"/>
              <a:headEnd/>
              <a:tailEnd/>
            </a:ln>
          </p:spPr>
          <p:txBody>
            <a:bodyPr wrap="none" anchor="ctr">
              <a:noAutofit/>
            </a:bodyPr>
            <a:lstStyle/>
            <a:p>
              <a:endParaRPr lang="en-US" sz="2000"/>
            </a:p>
          </p:txBody>
        </p:sp>
      </p:grpSp>
    </p:spTree>
    <p:extLst>
      <p:ext uri="{BB962C8B-B14F-4D97-AF65-F5344CB8AC3E}">
        <p14:creationId xmlns:p14="http://schemas.microsoft.com/office/powerpoint/2010/main" val="2965197346"/>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618" name="Rectangle 2"/>
          <p:cNvSpPr>
            <a:spLocks noGrp="1" noChangeArrowheads="1"/>
          </p:cNvSpPr>
          <p:nvPr>
            <p:ph idx="1"/>
          </p:nvPr>
        </p:nvSpPr>
        <p:spPr>
          <a:xfrm>
            <a:off x="923636" y="1140215"/>
            <a:ext cx="10769599" cy="5985485"/>
          </a:xfrm>
        </p:spPr>
        <p:txBody>
          <a:bodyPr>
            <a:noAutofit/>
          </a:bodyPr>
          <a:lstStyle/>
          <a:p>
            <a:pPr>
              <a:buNone/>
            </a:pPr>
            <a:r>
              <a:rPr lang="en-US" altLang="ko-KR" sz="1200" dirty="0">
                <a:solidFill>
                  <a:srgbClr val="000000"/>
                </a:solidFill>
                <a:ea typeface="Batang" pitchFamily="18" charset="-127"/>
                <a:cs typeface="Arial" pitchFamily="34" charset="0"/>
              </a:rPr>
              <a:t>E-mail: Invitation to stakeholder briefing for my yearlong Stakeholder Centered Coaching program</a:t>
            </a:r>
          </a:p>
          <a:p>
            <a:pPr>
              <a:buNone/>
            </a:pPr>
            <a:r>
              <a:rPr lang="en-US" altLang="ko-KR" sz="1200" dirty="0" smtClean="0">
                <a:solidFill>
                  <a:srgbClr val="000000"/>
                </a:solidFill>
                <a:ea typeface="Batang" pitchFamily="18" charset="-127"/>
                <a:cs typeface="Arial" pitchFamily="34" charset="0"/>
              </a:rPr>
              <a:t>Dear </a:t>
            </a:r>
            <a:r>
              <a:rPr lang="en-US" altLang="ko-KR" sz="1200" dirty="0">
                <a:solidFill>
                  <a:srgbClr val="000000"/>
                </a:solidFill>
                <a:ea typeface="Batang" pitchFamily="18" charset="-127"/>
                <a:cs typeface="Arial" pitchFamily="34" charset="0"/>
              </a:rPr>
              <a:t>Colleague,</a:t>
            </a:r>
          </a:p>
          <a:p>
            <a:pPr>
              <a:lnSpc>
                <a:spcPct val="90000"/>
              </a:lnSpc>
            </a:pPr>
            <a:r>
              <a:rPr lang="en-US" altLang="ko-KR" sz="1200" dirty="0" smtClean="0">
                <a:solidFill>
                  <a:srgbClr val="000000"/>
                </a:solidFill>
                <a:ea typeface="Batang" pitchFamily="18" charset="-127"/>
                <a:cs typeface="Arial" pitchFamily="34" charset="0"/>
              </a:rPr>
              <a:t>As </a:t>
            </a:r>
            <a:r>
              <a:rPr lang="en-US" altLang="ko-KR" sz="1200" dirty="0">
                <a:solidFill>
                  <a:srgbClr val="000000"/>
                </a:solidFill>
                <a:ea typeface="Batang" pitchFamily="18" charset="-127"/>
                <a:cs typeface="Arial" pitchFamily="34" charset="0"/>
              </a:rPr>
              <a:t>you know, I have just completed a 360 </a:t>
            </a:r>
            <a:r>
              <a:rPr lang="en-US" altLang="ko-KR" sz="1200" baseline="30000" dirty="0">
                <a:solidFill>
                  <a:srgbClr val="000000"/>
                </a:solidFill>
                <a:ea typeface="Batang" pitchFamily="18" charset="-127"/>
                <a:cs typeface="Arial" pitchFamily="34" charset="0"/>
              </a:rPr>
              <a:t>0</a:t>
            </a:r>
            <a:r>
              <a:rPr lang="en-US" altLang="ko-KR" sz="1200" dirty="0">
                <a:solidFill>
                  <a:srgbClr val="000000"/>
                </a:solidFill>
                <a:ea typeface="Batang" pitchFamily="18" charset="-127"/>
                <a:cs typeface="Arial" pitchFamily="34" charset="0"/>
              </a:rPr>
              <a:t> leadership assessment designed to provide feedback on specific core competencies and leadership behaviors within our organization. It was a very insightful process and provides an opportunity for me to improve as a leader. </a:t>
            </a:r>
          </a:p>
          <a:p>
            <a:pPr>
              <a:lnSpc>
                <a:spcPct val="90000"/>
              </a:lnSpc>
            </a:pPr>
            <a:r>
              <a:rPr lang="en-US" altLang="ko-KR" sz="1200" dirty="0">
                <a:solidFill>
                  <a:srgbClr val="000000"/>
                </a:solidFill>
                <a:ea typeface="Batang" pitchFamily="18" charset="-127"/>
                <a:cs typeface="Arial" pitchFamily="34" charset="0"/>
              </a:rPr>
              <a:t>First of all I want to thank you for participating in my 360 </a:t>
            </a:r>
            <a:r>
              <a:rPr lang="en-US" altLang="ko-KR" sz="1200" baseline="30000" dirty="0">
                <a:solidFill>
                  <a:srgbClr val="000000"/>
                </a:solidFill>
                <a:ea typeface="Batang" pitchFamily="18" charset="-127"/>
                <a:cs typeface="Arial" pitchFamily="34" charset="0"/>
              </a:rPr>
              <a:t>0</a:t>
            </a:r>
            <a:r>
              <a:rPr lang="en-US" altLang="ko-KR" sz="1200" dirty="0">
                <a:solidFill>
                  <a:srgbClr val="000000"/>
                </a:solidFill>
                <a:ea typeface="Batang" pitchFamily="18" charset="-127"/>
                <a:cs typeface="Arial" pitchFamily="34" charset="0"/>
              </a:rPr>
              <a:t> assessment and providing your candid, honest feedback to me. I greatly appreciate that.</a:t>
            </a:r>
          </a:p>
          <a:p>
            <a:pPr>
              <a:buNone/>
            </a:pPr>
            <a:r>
              <a:rPr lang="en-US" altLang="ko-KR" sz="1200" u="sng" dirty="0" smtClean="0">
                <a:solidFill>
                  <a:srgbClr val="000000"/>
                </a:solidFill>
                <a:ea typeface="Batang" pitchFamily="18" charset="-127"/>
                <a:cs typeface="Arial" pitchFamily="34" charset="0"/>
              </a:rPr>
              <a:t>Feedback </a:t>
            </a:r>
            <a:r>
              <a:rPr lang="en-US" altLang="ko-KR" sz="1200" u="sng" dirty="0">
                <a:solidFill>
                  <a:srgbClr val="000000"/>
                </a:solidFill>
                <a:ea typeface="Batang" pitchFamily="18" charset="-127"/>
                <a:cs typeface="Arial" pitchFamily="34" charset="0"/>
              </a:rPr>
              <a:t>results:</a:t>
            </a:r>
          </a:p>
          <a:p>
            <a:pPr>
              <a:buNone/>
            </a:pPr>
            <a:r>
              <a:rPr lang="en-US" altLang="ko-KR" sz="1200" dirty="0">
                <a:solidFill>
                  <a:srgbClr val="000000"/>
                </a:solidFill>
                <a:ea typeface="Batang" pitchFamily="18" charset="-127"/>
                <a:cs typeface="Arial" pitchFamily="34" charset="0"/>
              </a:rPr>
              <a:t>A. It was very rewarding to receive positive results in a number of areas. Two aspects that were especially gratifying were:</a:t>
            </a:r>
          </a:p>
          <a:p>
            <a:pPr>
              <a:buFont typeface="Wingdings" pitchFamily="2" charset="2"/>
              <a:buChar char="Ø"/>
            </a:pPr>
            <a:r>
              <a:rPr lang="en-US" altLang="ko-KR" sz="1200" dirty="0">
                <a:solidFill>
                  <a:srgbClr val="000000"/>
                </a:solidFill>
                <a:ea typeface="Batang" pitchFamily="18" charset="-127"/>
                <a:cs typeface="Arial" pitchFamily="34" charset="0"/>
              </a:rPr>
              <a:t>(put 1-2 key areas only) (Sample) Collaborating across organization/geographic boundaries and demonstrating a bias for action. </a:t>
            </a:r>
          </a:p>
          <a:p>
            <a:pPr>
              <a:buNone/>
            </a:pPr>
            <a:r>
              <a:rPr lang="en-US" altLang="ko-KR" sz="1200" dirty="0">
                <a:solidFill>
                  <a:srgbClr val="000000"/>
                </a:solidFill>
                <a:ea typeface="Batang" pitchFamily="18" charset="-127"/>
                <a:cs typeface="Arial" pitchFamily="34" charset="0"/>
              </a:rPr>
              <a:t>B. The report also provided me with helpful information on some leadership areas in which I want to grow. I believe it is a very opportune time to focus on growth in these areas. Therefore I decided to focus my leadership growth in the coming year on:</a:t>
            </a:r>
          </a:p>
          <a:p>
            <a:pPr>
              <a:buFont typeface="Wingdings" pitchFamily="2" charset="2"/>
              <a:buChar char="Ø"/>
            </a:pPr>
            <a:r>
              <a:rPr lang="en-US" altLang="ko-KR" sz="1200" dirty="0">
                <a:solidFill>
                  <a:srgbClr val="000000"/>
                </a:solidFill>
                <a:ea typeface="Batang" pitchFamily="18" charset="-127"/>
                <a:cs typeface="Arial" pitchFamily="34" charset="0"/>
              </a:rPr>
              <a:t>(Sample) 1) Delegating more effectively and 2) Including opinions of others in my decision making process </a:t>
            </a:r>
          </a:p>
          <a:p>
            <a:pPr>
              <a:buNone/>
            </a:pPr>
            <a:r>
              <a:rPr lang="en-US" altLang="ko-KR" sz="1200" u="sng" dirty="0" smtClean="0">
                <a:solidFill>
                  <a:srgbClr val="000000"/>
                </a:solidFill>
                <a:ea typeface="Batang" pitchFamily="18" charset="-127"/>
                <a:cs typeface="Arial" pitchFamily="34" charset="0"/>
              </a:rPr>
              <a:t>The </a:t>
            </a:r>
            <a:r>
              <a:rPr lang="en-US" altLang="ko-KR" sz="1200" u="sng" dirty="0">
                <a:solidFill>
                  <a:srgbClr val="000000"/>
                </a:solidFill>
                <a:ea typeface="Batang" pitchFamily="18" charset="-127"/>
                <a:cs typeface="Arial" pitchFamily="34" charset="0"/>
              </a:rPr>
              <a:t>next steps:</a:t>
            </a:r>
          </a:p>
          <a:p>
            <a:pPr>
              <a:buFont typeface="Wingdings" pitchFamily="2" charset="2"/>
              <a:buAutoNum type="arabicPeriod"/>
            </a:pPr>
            <a:r>
              <a:rPr lang="en-US" altLang="ko-KR" sz="1200" dirty="0">
                <a:solidFill>
                  <a:srgbClr val="000000"/>
                </a:solidFill>
                <a:ea typeface="Batang" pitchFamily="18" charset="-127"/>
                <a:cs typeface="Arial" pitchFamily="34" charset="0"/>
              </a:rPr>
              <a:t>The 360 </a:t>
            </a:r>
            <a:r>
              <a:rPr lang="en-US" altLang="ko-KR" sz="1200" baseline="30000" dirty="0">
                <a:solidFill>
                  <a:srgbClr val="000000"/>
                </a:solidFill>
                <a:ea typeface="Batang" pitchFamily="18" charset="-127"/>
                <a:cs typeface="Arial" pitchFamily="34" charset="0"/>
              </a:rPr>
              <a:t>0</a:t>
            </a:r>
            <a:r>
              <a:rPr lang="en-US" altLang="ko-KR" sz="1200" dirty="0">
                <a:solidFill>
                  <a:srgbClr val="000000"/>
                </a:solidFill>
                <a:ea typeface="Batang" pitchFamily="18" charset="-127"/>
                <a:cs typeface="Arial" pitchFamily="34" charset="0"/>
              </a:rPr>
              <a:t> feedback report was only the initial step in what I believe will be a very useful course of action for my leadership development. I would like you to continue to support me in my process of growth and change and therefore like to enlist you as my stakeholder to help me stay focused on the leadership growth areas described above. Being a stakeholder will only take 5-10 </a:t>
            </a:r>
            <a:r>
              <a:rPr lang="en-US" altLang="ko-KR" sz="1200" dirty="0" err="1">
                <a:solidFill>
                  <a:srgbClr val="000000"/>
                </a:solidFill>
                <a:ea typeface="Batang" pitchFamily="18" charset="-127"/>
                <a:cs typeface="Arial" pitchFamily="34" charset="0"/>
              </a:rPr>
              <a:t>mins</a:t>
            </a:r>
            <a:r>
              <a:rPr lang="en-US" altLang="ko-KR" sz="1200" dirty="0">
                <a:solidFill>
                  <a:srgbClr val="000000"/>
                </a:solidFill>
                <a:ea typeface="Batang" pitchFamily="18" charset="-127"/>
                <a:cs typeface="Arial" pitchFamily="34" charset="0"/>
              </a:rPr>
              <a:t> of your time per month. I have asked you to be one of my stakeholders in this process moving forward because I value your constructive input and I know you will be honest and fair.</a:t>
            </a:r>
          </a:p>
          <a:p>
            <a:pPr>
              <a:buFont typeface="Wingdings" pitchFamily="2" charset="2"/>
              <a:buAutoNum type="arabicPeriod"/>
            </a:pPr>
            <a:r>
              <a:rPr lang="en-US" altLang="ko-KR" sz="1200" dirty="0">
                <a:solidFill>
                  <a:srgbClr val="000000"/>
                </a:solidFill>
                <a:ea typeface="Batang" pitchFamily="18" charset="-127"/>
                <a:cs typeface="Arial" pitchFamily="34" charset="0"/>
              </a:rPr>
              <a:t>As part of this coaching process I will also be using a coach, </a:t>
            </a:r>
            <a:r>
              <a:rPr lang="en-US" altLang="ko-KR" sz="1200" dirty="0" smtClean="0">
                <a:solidFill>
                  <a:srgbClr val="000000"/>
                </a:solidFill>
                <a:ea typeface="Batang" pitchFamily="18" charset="-127"/>
                <a:cs typeface="Arial" pitchFamily="34" charset="0"/>
              </a:rPr>
              <a:t>ABC. </a:t>
            </a:r>
            <a:r>
              <a:rPr lang="en-US" altLang="ko-KR" sz="1200" dirty="0">
                <a:solidFill>
                  <a:srgbClr val="000000"/>
                </a:solidFill>
                <a:ea typeface="Batang" pitchFamily="18" charset="-127"/>
                <a:cs typeface="Arial" pitchFamily="34" charset="0"/>
              </a:rPr>
              <a:t>I will describe him as my personal trainer and conscience to stay focused on my leadership growth. I have scheduled a short (30 minutes) briefing with all my stakeholders, myself, and my coach Will Linssen on Thursday November 7th at 8:30am. During that briefing I will explain the process I will be going through in more depth and introduce you to the stakeholder role.</a:t>
            </a:r>
          </a:p>
          <a:p>
            <a:pPr>
              <a:buNone/>
            </a:pPr>
            <a:endParaRPr lang="en-US" altLang="ko-KR" sz="1200" dirty="0">
              <a:solidFill>
                <a:srgbClr val="000000"/>
              </a:solidFill>
              <a:ea typeface="Batang" pitchFamily="18" charset="-127"/>
              <a:cs typeface="Arial" pitchFamily="34" charset="0"/>
            </a:endParaRPr>
          </a:p>
          <a:p>
            <a:pPr>
              <a:buNone/>
            </a:pPr>
            <a:r>
              <a:rPr lang="en-US" altLang="ko-KR" sz="1200" dirty="0">
                <a:solidFill>
                  <a:srgbClr val="000000"/>
                </a:solidFill>
                <a:ea typeface="Batang" pitchFamily="18" charset="-127"/>
                <a:cs typeface="Arial" pitchFamily="34" charset="0"/>
              </a:rPr>
              <a:t>Please let me know if you can support me as a stakeholder (ref 1) and can attend above mentioned stakeholder briefing </a:t>
            </a:r>
          </a:p>
          <a:p>
            <a:pPr>
              <a:buNone/>
            </a:pPr>
            <a:r>
              <a:rPr lang="en-US" altLang="ko-KR" sz="1200" dirty="0">
                <a:solidFill>
                  <a:srgbClr val="000000"/>
                </a:solidFill>
                <a:ea typeface="Batang" pitchFamily="18" charset="-127"/>
                <a:cs typeface="Arial" pitchFamily="34" charset="0"/>
              </a:rPr>
              <a:t>(ref 2). All of this is important to me.  Thank you for your support.</a:t>
            </a:r>
            <a:r>
              <a:rPr lang="en-US" altLang="ko-KR" sz="1200" dirty="0">
                <a:ea typeface="Batang" pitchFamily="18" charset="-127"/>
                <a:cs typeface="Arial" pitchFamily="34" charset="0"/>
              </a:rPr>
              <a:t> Best regards.</a:t>
            </a:r>
          </a:p>
        </p:txBody>
      </p:sp>
      <p:sp>
        <p:nvSpPr>
          <p:cNvPr id="3" name="Title 1"/>
          <p:cNvSpPr>
            <a:spLocks noGrp="1"/>
          </p:cNvSpPr>
          <p:nvPr>
            <p:ph type="title"/>
          </p:nvPr>
        </p:nvSpPr>
        <p:spPr>
          <a:xfrm>
            <a:off x="738909" y="318332"/>
            <a:ext cx="10169236" cy="461665"/>
          </a:xfrm>
        </p:spPr>
        <p:txBody>
          <a:bodyPr>
            <a:noAutofit/>
          </a:bodyPr>
          <a:lstStyle/>
          <a:p>
            <a:pPr algn="ctr"/>
            <a:r>
              <a:rPr lang="en-US" sz="3600" b="1" dirty="0"/>
              <a:t>E-mail stakeholders to initiate the coaching program</a:t>
            </a:r>
          </a:p>
        </p:txBody>
      </p:sp>
    </p:spTree>
    <p:extLst>
      <p:ext uri="{BB962C8B-B14F-4D97-AF65-F5344CB8AC3E}">
        <p14:creationId xmlns:p14="http://schemas.microsoft.com/office/powerpoint/2010/main" val="2154260506"/>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25091" name="Rectangle 3"/>
          <p:cNvSpPr>
            <a:spLocks noGrp="1" noChangeArrowheads="1"/>
          </p:cNvSpPr>
          <p:nvPr>
            <p:ph idx="1"/>
          </p:nvPr>
        </p:nvSpPr>
        <p:spPr>
          <a:xfrm>
            <a:off x="1801814" y="1516494"/>
            <a:ext cx="8866187" cy="2234458"/>
          </a:xfrm>
        </p:spPr>
        <p:txBody>
          <a:bodyPr/>
          <a:lstStyle/>
          <a:p>
            <a:pPr marL="304800" indent="-304800">
              <a:lnSpc>
                <a:spcPct val="130000"/>
              </a:lnSpc>
              <a:buNone/>
            </a:pPr>
            <a:r>
              <a:rPr lang="en-US" altLang="ko-KR" dirty="0" smtClean="0">
                <a:ea typeface="굴림" pitchFamily="34" charset="-127"/>
              </a:rPr>
              <a:t>Leadership Growth Areas:</a:t>
            </a:r>
            <a:endParaRPr lang="en-US" altLang="ko-KR" sz="1800" dirty="0" smtClean="0">
              <a:ea typeface="굴림" pitchFamily="34" charset="-127"/>
            </a:endParaRPr>
          </a:p>
          <a:p>
            <a:pPr marL="304800" indent="-304800">
              <a:lnSpc>
                <a:spcPct val="130000"/>
              </a:lnSpc>
              <a:buFont typeface="Wingdings" pitchFamily="2" charset="2"/>
              <a:buAutoNum type="arabicPeriod"/>
            </a:pPr>
            <a:r>
              <a:rPr lang="en-US" altLang="ko-KR" sz="1800" b="1" dirty="0" smtClean="0">
                <a:solidFill>
                  <a:srgbClr val="0070C0"/>
                </a:solidFill>
                <a:ea typeface="굴림" pitchFamily="34" charset="-127"/>
              </a:rPr>
              <a:t> …. Be a better listener  ….</a:t>
            </a:r>
          </a:p>
          <a:p>
            <a:pPr marL="304800" indent="-304800">
              <a:lnSpc>
                <a:spcPct val="130000"/>
              </a:lnSpc>
              <a:buFont typeface="Wingdings" pitchFamily="2" charset="2"/>
              <a:buAutoNum type="arabicPeriod"/>
            </a:pPr>
            <a:r>
              <a:rPr lang="en-US" altLang="ko-KR" sz="1800" b="1" dirty="0" smtClean="0">
                <a:solidFill>
                  <a:srgbClr val="0070C0"/>
                </a:solidFill>
                <a:ea typeface="굴림" pitchFamily="34" charset="-127"/>
              </a:rPr>
              <a:t>… Delegate better …</a:t>
            </a:r>
          </a:p>
          <a:p>
            <a:pPr marL="304800" indent="-304800">
              <a:lnSpc>
                <a:spcPct val="130000"/>
              </a:lnSpc>
              <a:buFont typeface="Wingdings" pitchFamily="2" charset="2"/>
              <a:buAutoNum type="arabicPeriod"/>
            </a:pPr>
            <a:endParaRPr lang="en-US" altLang="ko-KR" dirty="0" smtClean="0">
              <a:solidFill>
                <a:schemeClr val="accent2"/>
              </a:solidFill>
              <a:ea typeface="굴림" pitchFamily="34" charset="-127"/>
            </a:endParaRPr>
          </a:p>
          <a:p>
            <a:pPr marL="304800" indent="-304800">
              <a:lnSpc>
                <a:spcPct val="130000"/>
              </a:lnSpc>
              <a:buFont typeface="Wingdings" pitchFamily="2" charset="2"/>
              <a:buAutoNum type="arabicPeriod"/>
            </a:pPr>
            <a:endParaRPr lang="en-US" altLang="ko-KR" dirty="0" smtClean="0">
              <a:solidFill>
                <a:schemeClr val="accent2"/>
              </a:solidFill>
              <a:ea typeface="굴림" pitchFamily="34" charset="-127"/>
            </a:endParaRPr>
          </a:p>
          <a:p>
            <a:pPr marL="304800" indent="-304800">
              <a:buNone/>
            </a:pPr>
            <a:endParaRPr lang="en-US" dirty="0" smtClean="0"/>
          </a:p>
        </p:txBody>
      </p:sp>
      <p:sp>
        <p:nvSpPr>
          <p:cNvPr id="1625092" name="Rectangle 4"/>
          <p:cNvSpPr>
            <a:spLocks noChangeArrowheads="1"/>
          </p:cNvSpPr>
          <p:nvPr/>
        </p:nvSpPr>
        <p:spPr bwMode="auto">
          <a:xfrm>
            <a:off x="6527802" y="2369395"/>
            <a:ext cx="4178299" cy="4108817"/>
          </a:xfrm>
          <a:prstGeom prst="rect">
            <a:avLst/>
          </a:prstGeom>
          <a:noFill/>
          <a:ln w="9525">
            <a:noFill/>
            <a:miter lim="800000"/>
            <a:headEnd/>
            <a:tailEnd/>
          </a:ln>
        </p:spPr>
        <p:txBody>
          <a:bodyPr wrap="square">
            <a:spAutoFit/>
          </a:bodyPr>
          <a:lstStyle/>
          <a:p>
            <a:pPr marL="304800" indent="-304800">
              <a:lnSpc>
                <a:spcPct val="130000"/>
              </a:lnSpc>
              <a:spcBef>
                <a:spcPct val="20000"/>
              </a:spcBef>
              <a:tabLst>
                <a:tab pos="1944688" algn="l"/>
              </a:tabLst>
            </a:pPr>
            <a:r>
              <a:rPr lang="en-US" altLang="ko-KR" dirty="0">
                <a:ea typeface="굴림" pitchFamily="34" charset="-127"/>
              </a:rPr>
              <a:t>Deliver the following benefits:</a:t>
            </a:r>
            <a:endParaRPr lang="en-US" altLang="ko-KR" dirty="0">
              <a:solidFill>
                <a:schemeClr val="accent2"/>
              </a:solidFill>
              <a:ea typeface="굴림" pitchFamily="34" charset="-127"/>
            </a:endParaRPr>
          </a:p>
          <a:p>
            <a:pPr marL="304800" indent="-304800">
              <a:lnSpc>
                <a:spcPct val="130000"/>
              </a:lnSpc>
              <a:spcBef>
                <a:spcPct val="20000"/>
              </a:spcBef>
              <a:buFont typeface="Wingdings" pitchFamily="2" charset="2"/>
              <a:buAutoNum type="arabicPeriod"/>
              <a:tabLst>
                <a:tab pos="1944688" algn="l"/>
              </a:tabLst>
            </a:pPr>
            <a:r>
              <a:rPr lang="en-US" altLang="ko-KR" dirty="0">
                <a:solidFill>
                  <a:srgbClr val="0070C0"/>
                </a:solidFill>
                <a:ea typeface="굴림" pitchFamily="34" charset="-127"/>
              </a:rPr>
              <a:t>Better communication</a:t>
            </a:r>
          </a:p>
          <a:p>
            <a:pPr marL="304800" indent="-304800">
              <a:lnSpc>
                <a:spcPct val="130000"/>
              </a:lnSpc>
              <a:spcBef>
                <a:spcPct val="20000"/>
              </a:spcBef>
              <a:buFont typeface="Wingdings" pitchFamily="2" charset="2"/>
              <a:buAutoNum type="arabicPeriod"/>
              <a:tabLst>
                <a:tab pos="1944688" algn="l"/>
              </a:tabLst>
            </a:pPr>
            <a:r>
              <a:rPr lang="en-US" altLang="ko-KR" dirty="0">
                <a:solidFill>
                  <a:srgbClr val="0070C0"/>
                </a:solidFill>
                <a:ea typeface="굴림" pitchFamily="34" charset="-127"/>
              </a:rPr>
              <a:t>Higher productivity </a:t>
            </a:r>
          </a:p>
          <a:p>
            <a:pPr marL="304800" indent="-304800">
              <a:lnSpc>
                <a:spcPct val="130000"/>
              </a:lnSpc>
              <a:spcBef>
                <a:spcPct val="20000"/>
              </a:spcBef>
              <a:buFont typeface="Wingdings" pitchFamily="2" charset="2"/>
              <a:buAutoNum type="arabicPeriod"/>
              <a:tabLst>
                <a:tab pos="1944688" algn="l"/>
              </a:tabLst>
            </a:pPr>
            <a:r>
              <a:rPr lang="en-US" altLang="ko-KR" dirty="0">
                <a:solidFill>
                  <a:srgbClr val="0070C0"/>
                </a:solidFill>
                <a:ea typeface="굴림" pitchFamily="34" charset="-127"/>
              </a:rPr>
              <a:t>More focus for strategic issues</a:t>
            </a:r>
          </a:p>
          <a:p>
            <a:pPr marL="304800" indent="-304800">
              <a:lnSpc>
                <a:spcPct val="130000"/>
              </a:lnSpc>
              <a:spcBef>
                <a:spcPct val="20000"/>
              </a:spcBef>
              <a:buFont typeface="Wingdings" pitchFamily="2" charset="2"/>
              <a:buAutoNum type="arabicPeriod"/>
              <a:tabLst>
                <a:tab pos="1944688" algn="l"/>
              </a:tabLst>
            </a:pPr>
            <a:r>
              <a:rPr lang="en-US" altLang="ko-KR" dirty="0">
                <a:solidFill>
                  <a:srgbClr val="0070C0"/>
                </a:solidFill>
                <a:ea typeface="굴림" pitchFamily="34" charset="-127"/>
              </a:rPr>
              <a:t>Accelerated development DRs</a:t>
            </a:r>
          </a:p>
          <a:p>
            <a:pPr marL="304800" indent="-304800">
              <a:lnSpc>
                <a:spcPct val="130000"/>
              </a:lnSpc>
              <a:spcBef>
                <a:spcPct val="20000"/>
              </a:spcBef>
              <a:buFont typeface="Wingdings" pitchFamily="2" charset="2"/>
              <a:buAutoNum type="arabicPeriod"/>
              <a:tabLst>
                <a:tab pos="1944688" algn="l"/>
              </a:tabLst>
            </a:pPr>
            <a:r>
              <a:rPr lang="en-US" altLang="ko-KR" dirty="0">
                <a:solidFill>
                  <a:srgbClr val="0070C0"/>
                </a:solidFill>
                <a:ea typeface="굴림" pitchFamily="34" charset="-127"/>
              </a:rPr>
              <a:t>Better quality of relationships</a:t>
            </a:r>
          </a:p>
          <a:p>
            <a:pPr marL="304800" indent="-304800">
              <a:lnSpc>
                <a:spcPct val="130000"/>
              </a:lnSpc>
              <a:spcBef>
                <a:spcPct val="20000"/>
              </a:spcBef>
              <a:buFont typeface="Wingdings" pitchFamily="2" charset="2"/>
              <a:buAutoNum type="arabicPeriod"/>
              <a:tabLst>
                <a:tab pos="1944688" algn="l"/>
              </a:tabLst>
            </a:pPr>
            <a:r>
              <a:rPr lang="en-US" altLang="ko-KR" dirty="0">
                <a:solidFill>
                  <a:srgbClr val="0070C0"/>
                </a:solidFill>
                <a:ea typeface="굴림" pitchFamily="34" charset="-127"/>
              </a:rPr>
              <a:t>Higher engagement and satisfaction of DRs</a:t>
            </a:r>
          </a:p>
          <a:p>
            <a:pPr marL="304800" indent="-304800">
              <a:lnSpc>
                <a:spcPct val="130000"/>
              </a:lnSpc>
              <a:spcBef>
                <a:spcPct val="20000"/>
              </a:spcBef>
              <a:buFont typeface="Wingdings" pitchFamily="2" charset="2"/>
              <a:buAutoNum type="arabicPeriod"/>
              <a:tabLst>
                <a:tab pos="1944688" algn="l"/>
              </a:tabLst>
            </a:pPr>
            <a:r>
              <a:rPr lang="en-US" altLang="ko-KR" dirty="0">
                <a:solidFill>
                  <a:srgbClr val="0070C0"/>
                </a:solidFill>
                <a:ea typeface="굴림" pitchFamily="34" charset="-127"/>
              </a:rPr>
              <a:t>Etc.</a:t>
            </a:r>
          </a:p>
          <a:p>
            <a:pPr marL="304800" indent="-304800">
              <a:lnSpc>
                <a:spcPct val="120000"/>
              </a:lnSpc>
              <a:spcBef>
                <a:spcPct val="20000"/>
              </a:spcBef>
              <a:tabLst>
                <a:tab pos="1944688" algn="l"/>
              </a:tabLst>
            </a:pPr>
            <a:endParaRPr lang="en-US" dirty="0"/>
          </a:p>
        </p:txBody>
      </p:sp>
      <p:sp>
        <p:nvSpPr>
          <p:cNvPr id="1625094" name="Rectangle 6"/>
          <p:cNvSpPr>
            <a:spLocks noChangeArrowheads="1"/>
          </p:cNvSpPr>
          <p:nvPr/>
        </p:nvSpPr>
        <p:spPr bwMode="auto">
          <a:xfrm>
            <a:off x="1803401" y="4615873"/>
            <a:ext cx="3748087" cy="1892826"/>
          </a:xfrm>
          <a:prstGeom prst="rect">
            <a:avLst/>
          </a:prstGeom>
          <a:noFill/>
          <a:ln w="34925">
            <a:noFill/>
            <a:miter lim="800000"/>
            <a:headEnd/>
            <a:tailEnd/>
          </a:ln>
        </p:spPr>
        <p:txBody>
          <a:bodyPr wrap="square">
            <a:spAutoFit/>
          </a:bodyPr>
          <a:lstStyle/>
          <a:p>
            <a:pPr>
              <a:lnSpc>
                <a:spcPct val="130000"/>
              </a:lnSpc>
              <a:spcBef>
                <a:spcPct val="20000"/>
              </a:spcBef>
              <a:buFont typeface="Wingdings" pitchFamily="2" charset="2"/>
              <a:buNone/>
            </a:pPr>
            <a:r>
              <a:rPr lang="en-US" altLang="ko-KR" dirty="0">
                <a:solidFill>
                  <a:srgbClr val="0070C0"/>
                </a:solidFill>
                <a:ea typeface="굴림" pitchFamily="34" charset="-127"/>
              </a:rPr>
              <a:t>Monthly feedback and feedforward from stakeholders include (expert) suggestions that leader can include in action plan to deliver results and benefits</a:t>
            </a:r>
          </a:p>
        </p:txBody>
      </p:sp>
      <p:sp>
        <p:nvSpPr>
          <p:cNvPr id="1625095" name="AutoShape 7"/>
          <p:cNvSpPr>
            <a:spLocks noChangeArrowheads="1"/>
          </p:cNvSpPr>
          <p:nvPr/>
        </p:nvSpPr>
        <p:spPr bwMode="auto">
          <a:xfrm rot="-5400000">
            <a:off x="2590298" y="3250267"/>
            <a:ext cx="1484312" cy="1352259"/>
          </a:xfrm>
          <a:prstGeom prst="leftArrow">
            <a:avLst>
              <a:gd name="adj1" fmla="val 100000"/>
              <a:gd name="adj2" fmla="val 29625"/>
            </a:avLst>
          </a:prstGeom>
          <a:solidFill>
            <a:srgbClr val="005246"/>
          </a:solidFill>
          <a:ln w="34925">
            <a:noFill/>
            <a:miter lim="800000"/>
            <a:headEnd/>
            <a:tailEnd/>
          </a:ln>
        </p:spPr>
        <p:txBody>
          <a:bodyPr vert="eaVert" lIns="0" tIns="0" rIns="0" bIns="0" anchor="ctr"/>
          <a:lstStyle/>
          <a:p>
            <a:pPr algn="ctr">
              <a:spcBef>
                <a:spcPct val="50000"/>
              </a:spcBef>
            </a:pPr>
            <a:r>
              <a:rPr lang="en-US" dirty="0">
                <a:solidFill>
                  <a:schemeClr val="bg1"/>
                </a:solidFill>
              </a:rPr>
              <a:t>Involving</a:t>
            </a:r>
          </a:p>
          <a:p>
            <a:pPr algn="ctr">
              <a:spcBef>
                <a:spcPct val="50000"/>
              </a:spcBef>
            </a:pPr>
            <a:r>
              <a:rPr lang="en-US" dirty="0">
                <a:solidFill>
                  <a:schemeClr val="bg1"/>
                </a:solidFill>
              </a:rPr>
              <a:t>Stakeholders</a:t>
            </a:r>
          </a:p>
        </p:txBody>
      </p:sp>
      <p:sp>
        <p:nvSpPr>
          <p:cNvPr id="1625096" name="AutoShape 8"/>
          <p:cNvSpPr>
            <a:spLocks noChangeArrowheads="1"/>
          </p:cNvSpPr>
          <p:nvPr/>
        </p:nvSpPr>
        <p:spPr bwMode="auto">
          <a:xfrm rot="10800000">
            <a:off x="5551489" y="4945291"/>
            <a:ext cx="976313" cy="365760"/>
          </a:xfrm>
          <a:prstGeom prst="leftArrow">
            <a:avLst>
              <a:gd name="adj1" fmla="val 100000"/>
              <a:gd name="adj2" fmla="val 29625"/>
            </a:avLst>
          </a:prstGeom>
          <a:solidFill>
            <a:srgbClr val="005246"/>
          </a:solidFill>
          <a:ln w="34925">
            <a:noFill/>
            <a:miter lim="800000"/>
            <a:headEnd/>
            <a:tailEnd/>
          </a:ln>
        </p:spPr>
        <p:txBody>
          <a:bodyPr rot="10800000" wrap="none" lIns="0" tIns="0" rIns="0" bIns="0" anchor="ctr"/>
          <a:lstStyle/>
          <a:p>
            <a:pPr algn="ctr">
              <a:spcBef>
                <a:spcPct val="50000"/>
              </a:spcBef>
            </a:pPr>
            <a:r>
              <a:rPr lang="en-US" dirty="0">
                <a:solidFill>
                  <a:schemeClr val="bg1"/>
                </a:solidFill>
              </a:rPr>
              <a:t>Should</a:t>
            </a:r>
          </a:p>
        </p:txBody>
      </p:sp>
      <p:sp>
        <p:nvSpPr>
          <p:cNvPr id="1625097" name="AutoShape 9"/>
          <p:cNvSpPr>
            <a:spLocks noChangeArrowheads="1"/>
          </p:cNvSpPr>
          <p:nvPr/>
        </p:nvSpPr>
        <p:spPr bwMode="auto">
          <a:xfrm rot="10800000">
            <a:off x="5551487" y="2406339"/>
            <a:ext cx="976312" cy="365760"/>
          </a:xfrm>
          <a:prstGeom prst="leftArrow">
            <a:avLst>
              <a:gd name="adj1" fmla="val 100000"/>
              <a:gd name="adj2" fmla="val 29625"/>
            </a:avLst>
          </a:prstGeom>
          <a:solidFill>
            <a:srgbClr val="005246"/>
          </a:solidFill>
          <a:ln w="34925">
            <a:noFill/>
            <a:miter lim="800000"/>
            <a:headEnd/>
            <a:tailEnd/>
          </a:ln>
        </p:spPr>
        <p:txBody>
          <a:bodyPr rot="10800000" wrap="none" lIns="0" tIns="0" rIns="0" bIns="0" anchor="ctr"/>
          <a:lstStyle/>
          <a:p>
            <a:pPr algn="ctr">
              <a:spcBef>
                <a:spcPct val="50000"/>
              </a:spcBef>
            </a:pPr>
            <a:r>
              <a:rPr lang="en-US" dirty="0">
                <a:solidFill>
                  <a:schemeClr val="bg1"/>
                </a:solidFill>
              </a:rPr>
              <a:t>Aim</a:t>
            </a:r>
          </a:p>
        </p:txBody>
      </p:sp>
      <p:sp>
        <p:nvSpPr>
          <p:cNvPr id="9" name="Rectangle 2"/>
          <p:cNvSpPr txBox="1">
            <a:spLocks noChangeArrowheads="1"/>
          </p:cNvSpPr>
          <p:nvPr/>
        </p:nvSpPr>
        <p:spPr>
          <a:xfrm>
            <a:off x="1562101" y="295205"/>
            <a:ext cx="9144000" cy="1089529"/>
          </a:xfrm>
          <a:prstGeom prst="rect">
            <a:avLst/>
          </a:prstGeom>
          <a:solidFill>
            <a:srgbClr val="005246"/>
          </a:solidFill>
          <a:ln w="9525">
            <a:noFill/>
            <a:miter lim="800000"/>
            <a:headEnd/>
            <a:tailEnd/>
          </a:ln>
        </p:spPr>
        <p:txBody>
          <a:bodyPr vert="horz" wrap="square" lIns="91440" tIns="45720" rIns="91440" bIns="45720" numCol="1" rtlCol="0" anchor="t" anchorCtr="0" compatLnSpc="1">
            <a:prstTxWarp prst="textNoShape">
              <a:avLst/>
            </a:prstTxWarp>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3600" b="1" dirty="0" smtClean="0">
                <a:solidFill>
                  <a:schemeClr val="bg1"/>
                </a:solidFill>
              </a:rPr>
              <a:t> </a:t>
            </a:r>
            <a:r>
              <a:rPr lang="en-US" altLang="ko-KR" sz="3600" b="1" dirty="0" smtClean="0">
                <a:solidFill>
                  <a:schemeClr val="bg1"/>
                </a:solidFill>
                <a:ea typeface="굴림" pitchFamily="34" charset="-127"/>
              </a:rPr>
              <a:t>Role of Stakeholders = support leadership growth on the job</a:t>
            </a:r>
            <a:endParaRPr lang="en-US" altLang="ko-KR" sz="3600" b="1" dirty="0">
              <a:solidFill>
                <a:schemeClr val="bg1"/>
              </a:solidFill>
            </a:endParaRPr>
          </a:p>
        </p:txBody>
      </p:sp>
    </p:spTree>
    <p:extLst>
      <p:ext uri="{BB962C8B-B14F-4D97-AF65-F5344CB8AC3E}">
        <p14:creationId xmlns:p14="http://schemas.microsoft.com/office/powerpoint/2010/main" val="2727599135"/>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625091">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625091">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625091">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625097"/>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625092"/>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1625095"/>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625094"/>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62509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25091" grpId="0" build="p"/>
      <p:bldP spid="1625092" grpId="0"/>
      <p:bldP spid="1625094" grpId="0"/>
      <p:bldP spid="1625095" grpId="0" animBg="1"/>
      <p:bldP spid="1625096" grpId="0" animBg="1"/>
      <p:bldP spid="1625097"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860" name="Rectangle 2"/>
          <p:cNvSpPr>
            <a:spLocks noGrp="1" noChangeArrowheads="1"/>
          </p:cNvSpPr>
          <p:nvPr>
            <p:ph type="title"/>
          </p:nvPr>
        </p:nvSpPr>
        <p:spPr>
          <a:xfrm>
            <a:off x="1524000" y="266700"/>
            <a:ext cx="9144000" cy="1089529"/>
          </a:xfrm>
          <a:solidFill>
            <a:srgbClr val="005246"/>
          </a:solidFill>
          <a:ln w="9525">
            <a:noFill/>
            <a:miter lim="800000"/>
            <a:headEnd/>
            <a:tailEnd/>
          </a:ln>
        </p:spPr>
        <p:txBody>
          <a:bodyPr vert="horz" wrap="square" lIns="91440" tIns="45720" rIns="91440" bIns="45720" numCol="1" rtlCol="0" anchor="t" anchorCtr="0" compatLnSpc="1">
            <a:prstTxWarp prst="textNoShape">
              <a:avLst/>
            </a:prstTxWarp>
            <a:spAutoFit/>
          </a:bodyPr>
          <a:lstStyle/>
          <a:p>
            <a:pPr algn="ctr"/>
            <a:r>
              <a:rPr lang="en-US" sz="3600" b="1" dirty="0" smtClean="0">
                <a:solidFill>
                  <a:schemeClr val="bg1"/>
                </a:solidFill>
              </a:rPr>
              <a:t> </a:t>
            </a:r>
            <a:r>
              <a:rPr lang="en-US" altLang="ko-KR" sz="3600" b="1" dirty="0">
                <a:solidFill>
                  <a:schemeClr val="bg1"/>
                </a:solidFill>
                <a:ea typeface="굴림" pitchFamily="34" charset="-127"/>
              </a:rPr>
              <a:t>Leader’s commitment: Leading Change Involving Stakeholders (Monthly)</a:t>
            </a:r>
            <a:endParaRPr lang="en-US" altLang="ko-KR" sz="3600" b="1" dirty="0">
              <a:solidFill>
                <a:schemeClr val="bg1"/>
              </a:solidFill>
            </a:endParaRPr>
          </a:p>
        </p:txBody>
      </p:sp>
      <p:sp>
        <p:nvSpPr>
          <p:cNvPr id="121861" name="Rectangle 3"/>
          <p:cNvSpPr>
            <a:spLocks noGrp="1" noChangeArrowheads="1"/>
          </p:cNvSpPr>
          <p:nvPr>
            <p:ph type="body" sz="half" idx="4294967295"/>
          </p:nvPr>
        </p:nvSpPr>
        <p:spPr>
          <a:xfrm>
            <a:off x="5903914" y="3486711"/>
            <a:ext cx="4764087" cy="2634567"/>
          </a:xfrm>
        </p:spPr>
        <p:txBody>
          <a:bodyPr>
            <a:noAutofit/>
          </a:bodyPr>
          <a:lstStyle/>
          <a:p>
            <a:pPr marL="304800" indent="-304800">
              <a:buFont typeface="Wingdings" pitchFamily="2" charset="2"/>
              <a:buAutoNum type="arabicPeriod" startAt="2"/>
            </a:pPr>
            <a:r>
              <a:rPr lang="en-US" sz="1600" dirty="0">
                <a:solidFill>
                  <a:schemeClr val="accent2"/>
                </a:solidFill>
              </a:rPr>
              <a:t>Listen</a:t>
            </a:r>
            <a:r>
              <a:rPr lang="en-US" sz="1600" dirty="0"/>
              <a:t> carefully to your suggestions</a:t>
            </a:r>
          </a:p>
          <a:p>
            <a:pPr marL="304800" indent="-304800">
              <a:buFont typeface="Wingdings" pitchFamily="2" charset="2"/>
              <a:buAutoNum type="arabicPeriod" startAt="2"/>
            </a:pPr>
            <a:r>
              <a:rPr lang="en-US" sz="1600" dirty="0">
                <a:solidFill>
                  <a:schemeClr val="accent2"/>
                </a:solidFill>
              </a:rPr>
              <a:t>Thank you</a:t>
            </a:r>
            <a:r>
              <a:rPr lang="en-US" sz="1600" dirty="0"/>
              <a:t> for your contribution to my leadership growth</a:t>
            </a:r>
          </a:p>
          <a:p>
            <a:pPr marL="304800" indent="-304800">
              <a:buFont typeface="Wingdings" pitchFamily="2" charset="2"/>
              <a:buAutoNum type="arabicPeriod" startAt="2"/>
            </a:pPr>
            <a:r>
              <a:rPr lang="en-US" sz="1600" dirty="0">
                <a:solidFill>
                  <a:schemeClr val="accent2"/>
                </a:solidFill>
              </a:rPr>
              <a:t>Think</a:t>
            </a:r>
            <a:r>
              <a:rPr lang="en-US" sz="1600" dirty="0"/>
              <a:t> about your suggestions and make an action plan</a:t>
            </a:r>
          </a:p>
          <a:p>
            <a:pPr marL="304800" indent="-304800">
              <a:buFont typeface="Wingdings" pitchFamily="2" charset="2"/>
              <a:buAutoNum type="arabicPeriod" startAt="2"/>
            </a:pPr>
            <a:r>
              <a:rPr lang="en-US" sz="1600" dirty="0">
                <a:solidFill>
                  <a:schemeClr val="accent2"/>
                </a:solidFill>
              </a:rPr>
              <a:t>Respond</a:t>
            </a:r>
            <a:r>
              <a:rPr lang="en-US" sz="1600" dirty="0"/>
              <a:t> to you via e-mail on which of your suggestions I will focus in the next 30 days</a:t>
            </a:r>
          </a:p>
          <a:p>
            <a:pPr marL="304800" indent="-304800">
              <a:buFont typeface="Wingdings" pitchFamily="2" charset="2"/>
              <a:buAutoNum type="arabicPeriod" startAt="2"/>
            </a:pPr>
            <a:r>
              <a:rPr lang="en-US" sz="1600" dirty="0"/>
              <a:t>Implement my action plan to make </a:t>
            </a:r>
            <a:r>
              <a:rPr lang="en-US" sz="1600" dirty="0">
                <a:solidFill>
                  <a:schemeClr val="accent2"/>
                </a:solidFill>
              </a:rPr>
              <a:t>change </a:t>
            </a:r>
            <a:r>
              <a:rPr lang="en-US" sz="1600" dirty="0"/>
              <a:t>visible</a:t>
            </a:r>
          </a:p>
          <a:p>
            <a:pPr marL="304800" indent="-304800">
              <a:buFont typeface="Wingdings" pitchFamily="2" charset="2"/>
              <a:buAutoNum type="arabicPeriod" startAt="2"/>
            </a:pPr>
            <a:r>
              <a:rPr lang="en-US" sz="1600" dirty="0"/>
              <a:t>Consistent monthly </a:t>
            </a:r>
            <a:r>
              <a:rPr lang="en-US" sz="1600" dirty="0">
                <a:solidFill>
                  <a:schemeClr val="accent2"/>
                </a:solidFill>
              </a:rPr>
              <a:t>follow up</a:t>
            </a:r>
            <a:r>
              <a:rPr lang="en-US" sz="1600" dirty="0"/>
              <a:t> ((in)formal)</a:t>
            </a:r>
          </a:p>
        </p:txBody>
      </p:sp>
      <p:sp>
        <p:nvSpPr>
          <p:cNvPr id="121862" name="Rectangle 4"/>
          <p:cNvSpPr>
            <a:spLocks noGrp="1" noChangeArrowheads="1"/>
          </p:cNvSpPr>
          <p:nvPr>
            <p:ph type="body" sz="half" idx="4294967295"/>
          </p:nvPr>
        </p:nvSpPr>
        <p:spPr>
          <a:xfrm>
            <a:off x="1798788" y="1409395"/>
            <a:ext cx="8869212" cy="2117503"/>
          </a:xfrm>
        </p:spPr>
        <p:txBody>
          <a:bodyPr>
            <a:normAutofit lnSpcReduction="10000"/>
          </a:bodyPr>
          <a:lstStyle/>
          <a:p>
            <a:pPr marL="266700" indent="-266700">
              <a:buNone/>
              <a:tabLst>
                <a:tab pos="228600" algn="l"/>
              </a:tabLst>
            </a:pPr>
            <a:r>
              <a:rPr lang="en-US" sz="1600" u="sng" dirty="0">
                <a:solidFill>
                  <a:schemeClr val="accent2"/>
                </a:solidFill>
              </a:rPr>
              <a:t>On a monthly basis I commit to:</a:t>
            </a:r>
          </a:p>
          <a:p>
            <a:pPr marL="266700" indent="-266700">
              <a:buFont typeface="Wingdings" pitchFamily="2" charset="2"/>
              <a:buAutoNum type="arabicPeriod"/>
              <a:tabLst>
                <a:tab pos="228600" algn="l"/>
              </a:tabLst>
            </a:pPr>
            <a:r>
              <a:rPr lang="en-US" sz="1600" dirty="0"/>
              <a:t>Meet and re-emphasize to you the leadership areas in which I want to become more effective:</a:t>
            </a:r>
          </a:p>
          <a:p>
            <a:pPr marL="688975" lvl="1" indent="-342900">
              <a:buFont typeface="+mj-lt"/>
              <a:buAutoNum type="alphaUcPeriod"/>
              <a:tabLst>
                <a:tab pos="228600" algn="l"/>
              </a:tabLst>
            </a:pPr>
            <a:r>
              <a:rPr lang="en-US" altLang="ko-KR" sz="1600" dirty="0">
                <a:solidFill>
                  <a:schemeClr val="accent2"/>
                </a:solidFill>
                <a:ea typeface="굴림" pitchFamily="34" charset="-127"/>
              </a:rPr>
              <a:t>Better listening</a:t>
            </a:r>
          </a:p>
          <a:p>
            <a:pPr marL="688975" lvl="1" indent="-342900">
              <a:buFont typeface="+mj-lt"/>
              <a:buAutoNum type="alphaUcPeriod"/>
              <a:tabLst>
                <a:tab pos="228600" algn="l"/>
              </a:tabLst>
            </a:pPr>
            <a:r>
              <a:rPr lang="en-US" altLang="ko-KR" sz="1600" dirty="0">
                <a:solidFill>
                  <a:schemeClr val="accent2"/>
                </a:solidFill>
                <a:ea typeface="굴림" pitchFamily="34" charset="-127"/>
              </a:rPr>
              <a:t>Better delegation</a:t>
            </a:r>
          </a:p>
          <a:p>
            <a:pPr marL="266700" indent="-266700">
              <a:buFont typeface="Wingdings" pitchFamily="2" charset="2"/>
              <a:buChar char="Ø"/>
              <a:tabLst>
                <a:tab pos="228600" algn="l"/>
              </a:tabLst>
            </a:pPr>
            <a:r>
              <a:rPr lang="en-US" sz="1600" dirty="0">
                <a:solidFill>
                  <a:schemeClr val="accent2"/>
                </a:solidFill>
              </a:rPr>
              <a:t>Ask</a:t>
            </a:r>
            <a:r>
              <a:rPr lang="en-US" sz="1600" dirty="0"/>
              <a:t> for feedback: ‘How did I do last </a:t>
            </a:r>
            <a:r>
              <a:rPr lang="en-US" sz="1600" dirty="0" smtClean="0"/>
              <a:t>month’</a:t>
            </a:r>
          </a:p>
          <a:p>
            <a:pPr marL="266700" indent="-266700">
              <a:buFont typeface="Wingdings" pitchFamily="2" charset="2"/>
              <a:buChar char="Ø"/>
              <a:tabLst>
                <a:tab pos="228600" algn="l"/>
              </a:tabLst>
            </a:pPr>
            <a:r>
              <a:rPr lang="en-US" sz="1600" dirty="0" smtClean="0">
                <a:solidFill>
                  <a:schemeClr val="accent2"/>
                </a:solidFill>
              </a:rPr>
              <a:t>Ask</a:t>
            </a:r>
            <a:r>
              <a:rPr lang="en-US" sz="1600" dirty="0" smtClean="0"/>
              <a:t> </a:t>
            </a:r>
            <a:r>
              <a:rPr lang="en-US" sz="1600" dirty="0"/>
              <a:t>for feedforward suggestions: ‘What can I do in my relationship to you to demonstrate &amp; use these leadership behaviors? Give me 2-3 suggestions for the next 30 days.’</a:t>
            </a:r>
          </a:p>
        </p:txBody>
      </p:sp>
      <p:sp>
        <p:nvSpPr>
          <p:cNvPr id="121863" name="AutoShape 5"/>
          <p:cNvSpPr>
            <a:spLocks noChangeAspect="1" noChangeArrowheads="1" noTextEdit="1"/>
          </p:cNvSpPr>
          <p:nvPr/>
        </p:nvSpPr>
        <p:spPr bwMode="auto">
          <a:xfrm>
            <a:off x="1841500" y="3327546"/>
            <a:ext cx="3886200" cy="3729037"/>
          </a:xfrm>
          <a:prstGeom prst="rect">
            <a:avLst/>
          </a:prstGeom>
          <a:noFill/>
          <a:ln w="9525">
            <a:noFill/>
            <a:miter lim="800000"/>
            <a:headEnd/>
            <a:tailEnd/>
          </a:ln>
        </p:spPr>
        <p:txBody>
          <a:bodyPr/>
          <a:lstStyle/>
          <a:p>
            <a:endParaRPr lang="en-US"/>
          </a:p>
        </p:txBody>
      </p:sp>
      <p:sp>
        <p:nvSpPr>
          <p:cNvPr id="121864" name="AutoShape 19"/>
          <p:cNvSpPr>
            <a:spLocks noChangeArrowheads="1"/>
          </p:cNvSpPr>
          <p:nvPr/>
        </p:nvSpPr>
        <p:spPr bwMode="auto">
          <a:xfrm>
            <a:off x="5108939" y="2073042"/>
            <a:ext cx="5392804" cy="384155"/>
          </a:xfrm>
          <a:prstGeom prst="leftArrow">
            <a:avLst>
              <a:gd name="adj1" fmla="val 71528"/>
              <a:gd name="adj2" fmla="val 197262"/>
            </a:avLst>
          </a:prstGeom>
          <a:solidFill>
            <a:srgbClr val="FF0000">
              <a:alpha val="50195"/>
            </a:srgbClr>
          </a:solidFill>
          <a:ln w="34925">
            <a:noFill/>
            <a:miter lim="800000"/>
            <a:headEnd/>
            <a:tailEnd/>
          </a:ln>
        </p:spPr>
        <p:txBody>
          <a:bodyPr wrap="square" lIns="0" tIns="0" rIns="0" bIns="0" anchor="ctr">
            <a:spAutoFit/>
          </a:bodyPr>
          <a:lstStyle/>
          <a:p>
            <a:pPr algn="ctr">
              <a:spcBef>
                <a:spcPct val="50000"/>
              </a:spcBef>
            </a:pPr>
            <a:r>
              <a:rPr lang="en-US" dirty="0"/>
              <a:t>Put YOUR 1 - 2 leadership growth areas here</a:t>
            </a:r>
          </a:p>
        </p:txBody>
      </p:sp>
      <p:pic>
        <p:nvPicPr>
          <p:cNvPr id="8" name="Picture 3" descr="D:\alldata\A SCC-MG\Logos\MGSCC logo\7 steps.p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683454" y="3274380"/>
            <a:ext cx="3425485" cy="310307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14001736"/>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21861">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21861">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21861">
                                            <p:txEl>
                                              <p:pRg st="2" end="2"/>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21861">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21861">
                                            <p:txEl>
                                              <p:pRg st="4" end="4"/>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21861">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76163" name="Picture 3"/>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496290" y="424873"/>
            <a:ext cx="9144000" cy="5949538"/>
          </a:xfrm>
          <a:prstGeom prst="rect">
            <a:avLst/>
          </a:prstGeom>
          <a:noFill/>
          <a:ln w="9525">
            <a:noFill/>
            <a:miter lim="800000"/>
            <a:headEnd/>
            <a:tailEnd/>
          </a:ln>
        </p:spPr>
      </p:pic>
    </p:spTree>
    <p:extLst>
      <p:ext uri="{BB962C8B-B14F-4D97-AF65-F5344CB8AC3E}">
        <p14:creationId xmlns:p14="http://schemas.microsoft.com/office/powerpoint/2010/main" val="3800471757"/>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a:stretch/>
        </p:blipFill>
        <p:spPr bwMode="auto">
          <a:xfrm>
            <a:off x="1524000" y="699911"/>
            <a:ext cx="8985956" cy="503484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 name="Title 1"/>
          <p:cNvSpPr>
            <a:spLocks noGrp="1"/>
          </p:cNvSpPr>
          <p:nvPr>
            <p:ph type="title"/>
          </p:nvPr>
        </p:nvSpPr>
        <p:spPr>
          <a:xfrm>
            <a:off x="1524000" y="266701"/>
            <a:ext cx="9144000" cy="461665"/>
          </a:xfrm>
        </p:spPr>
        <p:txBody>
          <a:bodyPr>
            <a:noAutofit/>
          </a:bodyPr>
          <a:lstStyle/>
          <a:p>
            <a:r>
              <a:rPr lang="en-US" sz="3600" b="1" dirty="0" smtClean="0"/>
              <a:t>Daily Behavioral Checklist</a:t>
            </a:r>
            <a:endParaRPr lang="en-US" sz="3600" b="1" dirty="0"/>
          </a:p>
        </p:txBody>
      </p:sp>
    </p:spTree>
    <p:extLst>
      <p:ext uri="{BB962C8B-B14F-4D97-AF65-F5344CB8AC3E}">
        <p14:creationId xmlns:p14="http://schemas.microsoft.com/office/powerpoint/2010/main" val="1908808645"/>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7220" name="Rectangle 2"/>
          <p:cNvSpPr>
            <a:spLocks noGrp="1" noChangeArrowheads="1"/>
          </p:cNvSpPr>
          <p:nvPr>
            <p:ph type="title"/>
          </p:nvPr>
        </p:nvSpPr>
        <p:spPr>
          <a:xfrm>
            <a:off x="1524000" y="266700"/>
            <a:ext cx="9799782" cy="369332"/>
          </a:xfrm>
        </p:spPr>
        <p:txBody>
          <a:bodyPr>
            <a:noAutofit/>
          </a:bodyPr>
          <a:lstStyle/>
          <a:p>
            <a:pPr marL="4763">
              <a:tabLst>
                <a:tab pos="0" algn="l"/>
              </a:tabLst>
            </a:pPr>
            <a:r>
              <a:rPr lang="en-US" altLang="ko-KR" sz="3200" dirty="0">
                <a:ea typeface="Batang" pitchFamily="18" charset="-127"/>
                <a:cs typeface="Arial" pitchFamily="34" charset="0"/>
              </a:rPr>
              <a:t>e-mail: Responding to stakeholders (&amp; share </a:t>
            </a:r>
            <a:r>
              <a:rPr lang="en-US" altLang="ko-KR" sz="3200" dirty="0" smtClean="0">
                <a:ea typeface="Batang" pitchFamily="18" charset="-127"/>
                <a:cs typeface="Arial" pitchFamily="34" charset="0"/>
              </a:rPr>
              <a:t>MAP)</a:t>
            </a:r>
            <a:endParaRPr lang="en-US" altLang="ko-KR" sz="3200" dirty="0">
              <a:ea typeface="Batang" pitchFamily="18" charset="-127"/>
              <a:cs typeface="Arial" pitchFamily="34" charset="0"/>
            </a:endParaRPr>
          </a:p>
        </p:txBody>
      </p:sp>
      <p:sp>
        <p:nvSpPr>
          <p:cNvPr id="137221" name="Rectangle 3"/>
          <p:cNvSpPr>
            <a:spLocks noGrp="1" noChangeArrowheads="1"/>
          </p:cNvSpPr>
          <p:nvPr>
            <p:ph idx="1"/>
          </p:nvPr>
        </p:nvSpPr>
        <p:spPr>
          <a:xfrm>
            <a:off x="1524001" y="745921"/>
            <a:ext cx="9286504" cy="5299912"/>
          </a:xfrm>
        </p:spPr>
        <p:txBody>
          <a:bodyPr>
            <a:noAutofit/>
          </a:bodyPr>
          <a:lstStyle/>
          <a:p>
            <a:pPr marL="304800" indent="-304800">
              <a:lnSpc>
                <a:spcPct val="100000"/>
              </a:lnSpc>
              <a:buNone/>
            </a:pPr>
            <a:r>
              <a:rPr lang="en-US" altLang="ko-KR" sz="1200" dirty="0">
                <a:solidFill>
                  <a:srgbClr val="000000"/>
                </a:solidFill>
                <a:ea typeface="Batang" pitchFamily="18" charset="-127"/>
                <a:cs typeface="Arial" pitchFamily="34" charset="0"/>
              </a:rPr>
              <a:t>Subject:  My monthly action plan for leadership growth</a:t>
            </a:r>
          </a:p>
          <a:p>
            <a:pPr marL="304800" indent="-304800">
              <a:lnSpc>
                <a:spcPct val="100000"/>
              </a:lnSpc>
              <a:buNone/>
            </a:pPr>
            <a:r>
              <a:rPr lang="en-US" altLang="ko-KR" sz="1200" dirty="0" smtClean="0">
                <a:solidFill>
                  <a:srgbClr val="000000"/>
                </a:solidFill>
                <a:ea typeface="Batang" pitchFamily="18" charset="-127"/>
                <a:cs typeface="Arial" pitchFamily="34" charset="0"/>
              </a:rPr>
              <a:t>Dear </a:t>
            </a:r>
            <a:r>
              <a:rPr lang="en-US" altLang="ko-KR" sz="1200" dirty="0">
                <a:solidFill>
                  <a:srgbClr val="000000"/>
                </a:solidFill>
                <a:ea typeface="Batang" pitchFamily="18" charset="-127"/>
                <a:cs typeface="Arial" pitchFamily="34" charset="0"/>
              </a:rPr>
              <a:t>… (Stakeholder),</a:t>
            </a:r>
          </a:p>
          <a:p>
            <a:pPr marL="304800" indent="-304800">
              <a:lnSpc>
                <a:spcPct val="100000"/>
              </a:lnSpc>
              <a:buNone/>
            </a:pPr>
            <a:r>
              <a:rPr lang="en-US" altLang="ko-KR" sz="1200" dirty="0">
                <a:solidFill>
                  <a:srgbClr val="000000"/>
                </a:solidFill>
                <a:ea typeface="Batang" pitchFamily="18" charset="-127"/>
                <a:cs typeface="Arial" pitchFamily="34" charset="0"/>
              </a:rPr>
              <a:t>Thank you for your support in the leadership growth process. </a:t>
            </a:r>
          </a:p>
          <a:p>
            <a:pPr marL="304800" indent="-304800">
              <a:lnSpc>
                <a:spcPct val="100000"/>
              </a:lnSpc>
              <a:buNone/>
            </a:pPr>
            <a:r>
              <a:rPr lang="en-US" altLang="ko-KR" sz="1200" dirty="0" smtClean="0">
                <a:solidFill>
                  <a:srgbClr val="000000"/>
                </a:solidFill>
                <a:ea typeface="Batang" pitchFamily="18" charset="-127"/>
                <a:cs typeface="Arial" pitchFamily="34" charset="0"/>
              </a:rPr>
              <a:t>During </a:t>
            </a:r>
            <a:r>
              <a:rPr lang="en-US" altLang="ko-KR" sz="1200" dirty="0">
                <a:solidFill>
                  <a:srgbClr val="000000"/>
                </a:solidFill>
                <a:ea typeface="Batang" pitchFamily="18" charset="-127"/>
                <a:cs typeface="Arial" pitchFamily="34" charset="0"/>
              </a:rPr>
              <a:t>the recent monthly follow up discussions, stakeholders provided me </a:t>
            </a:r>
            <a:r>
              <a:rPr lang="en-US" altLang="ko-KR" sz="1200" dirty="0" err="1">
                <a:solidFill>
                  <a:srgbClr val="000000"/>
                </a:solidFill>
                <a:ea typeface="Batang" pitchFamily="18" charset="-127"/>
                <a:cs typeface="Arial" pitchFamily="34" charset="0"/>
              </a:rPr>
              <a:t>a.o.</a:t>
            </a:r>
            <a:r>
              <a:rPr lang="en-US" altLang="ko-KR" sz="1200" dirty="0">
                <a:solidFill>
                  <a:srgbClr val="000000"/>
                </a:solidFill>
                <a:ea typeface="Batang" pitchFamily="18" charset="-127"/>
                <a:cs typeface="Arial" pitchFamily="34" charset="0"/>
              </a:rPr>
              <a:t> with the following feedforward suggestions: </a:t>
            </a:r>
          </a:p>
          <a:p>
            <a:pPr marL="304800" indent="-304800">
              <a:lnSpc>
                <a:spcPct val="100000"/>
              </a:lnSpc>
              <a:buFont typeface="Wingdings" pitchFamily="2" charset="2"/>
              <a:buAutoNum type="arabicPeriod"/>
            </a:pPr>
            <a:r>
              <a:rPr lang="en-US" altLang="ko-KR" sz="1200" dirty="0">
                <a:solidFill>
                  <a:srgbClr val="000000"/>
                </a:solidFill>
                <a:ea typeface="Batang" pitchFamily="18" charset="-127"/>
                <a:cs typeface="Arial" pitchFamily="34" charset="0"/>
              </a:rPr>
              <a:t>Listen to people more often</a:t>
            </a:r>
          </a:p>
          <a:p>
            <a:pPr marL="304800" indent="-304800">
              <a:lnSpc>
                <a:spcPct val="100000"/>
              </a:lnSpc>
              <a:buFont typeface="Wingdings" pitchFamily="2" charset="2"/>
              <a:buAutoNum type="arabicPeriod"/>
            </a:pPr>
            <a:r>
              <a:rPr lang="en-US" altLang="ko-KR" sz="1200" dirty="0">
                <a:solidFill>
                  <a:srgbClr val="000000"/>
                </a:solidFill>
                <a:ea typeface="Batang" pitchFamily="18" charset="-127"/>
                <a:cs typeface="Arial" pitchFamily="34" charset="0"/>
              </a:rPr>
              <a:t>Be more clear in my communication</a:t>
            </a:r>
          </a:p>
          <a:p>
            <a:pPr marL="304800" indent="-304800">
              <a:lnSpc>
                <a:spcPct val="100000"/>
              </a:lnSpc>
              <a:buFont typeface="Wingdings" pitchFamily="2" charset="2"/>
              <a:buAutoNum type="arabicPeriod"/>
            </a:pPr>
            <a:r>
              <a:rPr lang="en-US" altLang="ko-KR" sz="1200" dirty="0">
                <a:solidFill>
                  <a:srgbClr val="000000"/>
                </a:solidFill>
                <a:ea typeface="Batang" pitchFamily="18" charset="-127"/>
                <a:cs typeface="Arial" pitchFamily="34" charset="0"/>
              </a:rPr>
              <a:t>Do not interrupt others while talking </a:t>
            </a:r>
          </a:p>
          <a:p>
            <a:pPr marL="304800" indent="-304800">
              <a:lnSpc>
                <a:spcPct val="100000"/>
              </a:lnSpc>
              <a:buNone/>
            </a:pPr>
            <a:r>
              <a:rPr lang="en-US" altLang="ko-KR" sz="1200" dirty="0" smtClean="0">
                <a:solidFill>
                  <a:srgbClr val="000000"/>
                </a:solidFill>
                <a:ea typeface="Batang" pitchFamily="18" charset="-127"/>
                <a:cs typeface="Arial" pitchFamily="34" charset="0"/>
              </a:rPr>
              <a:t>As </a:t>
            </a:r>
            <a:r>
              <a:rPr lang="en-US" altLang="ko-KR" sz="1200" dirty="0">
                <a:solidFill>
                  <a:srgbClr val="000000"/>
                </a:solidFill>
                <a:ea typeface="Batang" pitchFamily="18" charset="-127"/>
                <a:cs typeface="Arial" pitchFamily="34" charset="0"/>
              </a:rPr>
              <a:t>you remember I am committed to become more effective in the following leadership behaviors: </a:t>
            </a:r>
          </a:p>
          <a:p>
            <a:pPr marL="304800" indent="-304800">
              <a:lnSpc>
                <a:spcPct val="100000"/>
              </a:lnSpc>
            </a:pPr>
            <a:r>
              <a:rPr lang="en-US" altLang="ko-KR" sz="1200" dirty="0">
                <a:solidFill>
                  <a:srgbClr val="000000"/>
                </a:solidFill>
                <a:ea typeface="Batang" pitchFamily="18" charset="-127"/>
                <a:cs typeface="Arial" pitchFamily="34" charset="0"/>
              </a:rPr>
              <a:t>More constructive in resolving conflict </a:t>
            </a:r>
          </a:p>
          <a:p>
            <a:pPr marL="304800" indent="-304800">
              <a:lnSpc>
                <a:spcPct val="100000"/>
              </a:lnSpc>
            </a:pPr>
            <a:r>
              <a:rPr lang="en-US" altLang="ko-KR" sz="1200" dirty="0">
                <a:solidFill>
                  <a:srgbClr val="000000"/>
                </a:solidFill>
                <a:ea typeface="Batang" pitchFamily="18" charset="-127"/>
                <a:cs typeface="Arial" pitchFamily="34" charset="0"/>
              </a:rPr>
              <a:t>Better listening</a:t>
            </a:r>
          </a:p>
          <a:p>
            <a:pPr marL="0" indent="0">
              <a:lnSpc>
                <a:spcPct val="100000"/>
              </a:lnSpc>
              <a:buNone/>
            </a:pPr>
            <a:r>
              <a:rPr lang="en-US" altLang="ko-KR" sz="1200" dirty="0" smtClean="0">
                <a:solidFill>
                  <a:srgbClr val="000000"/>
                </a:solidFill>
                <a:ea typeface="Batang" pitchFamily="18" charset="-127"/>
                <a:cs typeface="Arial" pitchFamily="34" charset="0"/>
              </a:rPr>
              <a:t>Based </a:t>
            </a:r>
            <a:r>
              <a:rPr lang="en-US" altLang="ko-KR" sz="1200" dirty="0">
                <a:solidFill>
                  <a:srgbClr val="000000"/>
                </a:solidFill>
                <a:ea typeface="Batang" pitchFamily="18" charset="-127"/>
                <a:cs typeface="Arial" pitchFamily="34" charset="0"/>
              </a:rPr>
              <a:t>on the feedforward suggestions and my commitment above I will focus in the next 30 days on the following actions:</a:t>
            </a:r>
          </a:p>
          <a:p>
            <a:pPr marL="304800" indent="-304800">
              <a:lnSpc>
                <a:spcPct val="100000"/>
              </a:lnSpc>
              <a:buFont typeface="Wingdings" pitchFamily="2" charset="2"/>
              <a:buAutoNum type="arabicPeriod"/>
            </a:pPr>
            <a:r>
              <a:rPr lang="en-US" altLang="ko-KR" sz="1200" dirty="0">
                <a:solidFill>
                  <a:srgbClr val="000000"/>
                </a:solidFill>
                <a:ea typeface="Batang" pitchFamily="18" charset="-127"/>
                <a:cs typeface="Arial" pitchFamily="34" charset="0"/>
              </a:rPr>
              <a:t>Listen with more attention</a:t>
            </a:r>
          </a:p>
          <a:p>
            <a:pPr marL="304800" indent="-304800">
              <a:lnSpc>
                <a:spcPct val="100000"/>
              </a:lnSpc>
              <a:buFont typeface="Wingdings" pitchFamily="2" charset="2"/>
              <a:buAutoNum type="arabicPeriod"/>
            </a:pPr>
            <a:r>
              <a:rPr lang="en-US" altLang="ko-KR" sz="1200" dirty="0">
                <a:solidFill>
                  <a:srgbClr val="000000"/>
                </a:solidFill>
                <a:ea typeface="Batang" pitchFamily="18" charset="-127"/>
                <a:cs typeface="Arial" pitchFamily="34" charset="0"/>
              </a:rPr>
              <a:t>Stay calm when there is conflict</a:t>
            </a:r>
          </a:p>
          <a:p>
            <a:pPr marL="304800" indent="-304800">
              <a:lnSpc>
                <a:spcPct val="100000"/>
              </a:lnSpc>
              <a:buNone/>
            </a:pPr>
            <a:r>
              <a:rPr lang="en-US" altLang="ko-KR" sz="1200" dirty="0">
                <a:solidFill>
                  <a:srgbClr val="000000"/>
                </a:solidFill>
                <a:ea typeface="Batang" pitchFamily="18" charset="-127"/>
                <a:cs typeface="Arial" pitchFamily="34" charset="0"/>
              </a:rPr>
              <a:t>All action details are in the Monthly Action Plan (MAP) (enclosed)</a:t>
            </a:r>
          </a:p>
          <a:p>
            <a:pPr marL="304800" indent="-304800">
              <a:lnSpc>
                <a:spcPct val="100000"/>
              </a:lnSpc>
              <a:buFont typeface="Wingdings" pitchFamily="2" charset="2"/>
              <a:buAutoNum type="arabicPeriod"/>
            </a:pPr>
            <a:endParaRPr lang="en-US" altLang="ko-KR" sz="1200" dirty="0">
              <a:solidFill>
                <a:srgbClr val="000000"/>
              </a:solidFill>
              <a:ea typeface="Batang" pitchFamily="18" charset="-127"/>
              <a:cs typeface="Arial" pitchFamily="34" charset="0"/>
            </a:endParaRPr>
          </a:p>
          <a:p>
            <a:pPr marL="0" indent="0">
              <a:lnSpc>
                <a:spcPct val="100000"/>
              </a:lnSpc>
              <a:buNone/>
            </a:pPr>
            <a:r>
              <a:rPr lang="en-US" altLang="ko-KR" sz="1200" dirty="0">
                <a:solidFill>
                  <a:srgbClr val="000000"/>
                </a:solidFill>
                <a:ea typeface="Batang" pitchFamily="18" charset="-127"/>
                <a:cs typeface="Arial" pitchFamily="34" charset="0"/>
              </a:rPr>
              <a:t>Kindly hold me accountable to improve this behavior and let me know your feedback by the end of the month (or any other time you feel appropriate).</a:t>
            </a:r>
          </a:p>
          <a:p>
            <a:pPr marL="304800" indent="-304800">
              <a:lnSpc>
                <a:spcPct val="100000"/>
              </a:lnSpc>
              <a:buNone/>
            </a:pPr>
            <a:r>
              <a:rPr lang="en-US" altLang="ko-KR" sz="1200" dirty="0">
                <a:solidFill>
                  <a:srgbClr val="000000"/>
                </a:solidFill>
                <a:ea typeface="Batang" pitchFamily="18" charset="-127"/>
                <a:cs typeface="Arial" pitchFamily="34" charset="0"/>
              </a:rPr>
              <a:t>Thank you again for your support in my leadership growth and development.</a:t>
            </a:r>
          </a:p>
          <a:p>
            <a:pPr marL="304800" indent="-304800">
              <a:lnSpc>
                <a:spcPct val="100000"/>
              </a:lnSpc>
              <a:buNone/>
            </a:pPr>
            <a:r>
              <a:rPr lang="en-US" altLang="ko-KR" sz="1200" dirty="0">
                <a:solidFill>
                  <a:srgbClr val="000000"/>
                </a:solidFill>
                <a:ea typeface="Batang" pitchFamily="18" charset="-127"/>
                <a:cs typeface="Arial" pitchFamily="34" charset="0"/>
              </a:rPr>
              <a:t>					Best regards, B </a:t>
            </a:r>
            <a:r>
              <a:rPr lang="en-US" altLang="ko-KR" sz="1200" dirty="0" err="1">
                <a:solidFill>
                  <a:srgbClr val="000000"/>
                </a:solidFill>
                <a:ea typeface="Batang" pitchFamily="18" charset="-127"/>
                <a:cs typeface="Arial" pitchFamily="34" charset="0"/>
              </a:rPr>
              <a:t>Leeder</a:t>
            </a:r>
            <a:endParaRPr lang="en-US" altLang="ko-KR" sz="1200" dirty="0">
              <a:solidFill>
                <a:srgbClr val="000000"/>
              </a:solidFill>
              <a:ea typeface="Batang" pitchFamily="18" charset="-127"/>
              <a:cs typeface="Arial" pitchFamily="34" charset="0"/>
            </a:endParaRPr>
          </a:p>
        </p:txBody>
      </p:sp>
      <p:sp>
        <p:nvSpPr>
          <p:cNvPr id="137222" name="AutoShape 4"/>
          <p:cNvSpPr>
            <a:spLocks noChangeArrowheads="1"/>
          </p:cNvSpPr>
          <p:nvPr/>
        </p:nvSpPr>
        <p:spPr bwMode="auto">
          <a:xfrm>
            <a:off x="4898508" y="2240436"/>
            <a:ext cx="4335622" cy="384155"/>
          </a:xfrm>
          <a:prstGeom prst="leftArrow">
            <a:avLst>
              <a:gd name="adj1" fmla="val 71528"/>
              <a:gd name="adj2" fmla="val 123600"/>
            </a:avLst>
          </a:prstGeom>
          <a:solidFill>
            <a:srgbClr val="FF0000">
              <a:alpha val="50195"/>
            </a:srgbClr>
          </a:solidFill>
          <a:ln w="34925">
            <a:noFill/>
            <a:miter lim="800000"/>
            <a:headEnd/>
            <a:tailEnd/>
          </a:ln>
        </p:spPr>
        <p:txBody>
          <a:bodyPr wrap="square" lIns="0" tIns="0" rIns="0" bIns="0" anchor="ctr">
            <a:spAutoFit/>
          </a:bodyPr>
          <a:lstStyle/>
          <a:p>
            <a:pPr algn="ctr">
              <a:spcBef>
                <a:spcPct val="50000"/>
              </a:spcBef>
            </a:pPr>
            <a:r>
              <a:rPr lang="en-US" dirty="0"/>
              <a:t>Put here what stakeholders suggested</a:t>
            </a:r>
          </a:p>
        </p:txBody>
      </p:sp>
      <p:sp>
        <p:nvSpPr>
          <p:cNvPr id="137223" name="AutoShape 5"/>
          <p:cNvSpPr>
            <a:spLocks noChangeArrowheads="1"/>
          </p:cNvSpPr>
          <p:nvPr/>
        </p:nvSpPr>
        <p:spPr bwMode="auto">
          <a:xfrm>
            <a:off x="4898508" y="3252798"/>
            <a:ext cx="5140101" cy="384155"/>
          </a:xfrm>
          <a:prstGeom prst="leftArrow">
            <a:avLst>
              <a:gd name="adj1" fmla="val 71528"/>
              <a:gd name="adj2" fmla="val 82463"/>
            </a:avLst>
          </a:prstGeom>
          <a:solidFill>
            <a:srgbClr val="FF0000">
              <a:alpha val="50195"/>
            </a:srgbClr>
          </a:solidFill>
          <a:ln w="34925">
            <a:noFill/>
            <a:miter lim="800000"/>
            <a:headEnd/>
            <a:tailEnd/>
          </a:ln>
        </p:spPr>
        <p:txBody>
          <a:bodyPr wrap="square" lIns="0" tIns="0" rIns="0" bIns="0" anchor="ctr">
            <a:spAutoFit/>
          </a:bodyPr>
          <a:lstStyle/>
          <a:p>
            <a:pPr algn="ctr">
              <a:spcBef>
                <a:spcPct val="50000"/>
              </a:spcBef>
            </a:pPr>
            <a:r>
              <a:rPr lang="en-US" dirty="0"/>
              <a:t>Put YOUR 1 - 2 leadership growth areas here</a:t>
            </a:r>
          </a:p>
        </p:txBody>
      </p:sp>
      <p:sp>
        <p:nvSpPr>
          <p:cNvPr id="137224" name="AutoShape 6"/>
          <p:cNvSpPr>
            <a:spLocks noChangeArrowheads="1"/>
          </p:cNvSpPr>
          <p:nvPr/>
        </p:nvSpPr>
        <p:spPr bwMode="auto">
          <a:xfrm>
            <a:off x="4898508" y="4265160"/>
            <a:ext cx="6092042" cy="384155"/>
          </a:xfrm>
          <a:prstGeom prst="leftArrow">
            <a:avLst>
              <a:gd name="adj1" fmla="val 71528"/>
              <a:gd name="adj2" fmla="val 82463"/>
            </a:avLst>
          </a:prstGeom>
          <a:solidFill>
            <a:srgbClr val="FF0000">
              <a:alpha val="50195"/>
            </a:srgbClr>
          </a:solidFill>
          <a:ln w="34925">
            <a:noFill/>
            <a:miter lim="800000"/>
            <a:headEnd/>
            <a:tailEnd/>
          </a:ln>
        </p:spPr>
        <p:txBody>
          <a:bodyPr wrap="square" lIns="0" tIns="0" rIns="0" bIns="0" anchor="ctr">
            <a:spAutoFit/>
          </a:bodyPr>
          <a:lstStyle/>
          <a:p>
            <a:pPr algn="ctr">
              <a:spcBef>
                <a:spcPct val="50000"/>
              </a:spcBef>
            </a:pPr>
            <a:r>
              <a:rPr lang="en-US" dirty="0"/>
              <a:t>Put here what you commit to stakeholders for next month</a:t>
            </a:r>
          </a:p>
        </p:txBody>
      </p:sp>
    </p:spTree>
    <p:extLst>
      <p:ext uri="{BB962C8B-B14F-4D97-AF65-F5344CB8AC3E}">
        <p14:creationId xmlns:p14="http://schemas.microsoft.com/office/powerpoint/2010/main" val="2233212650"/>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8244" name="Rectangle 2"/>
          <p:cNvSpPr>
            <a:spLocks noGrp="1" noChangeArrowheads="1"/>
          </p:cNvSpPr>
          <p:nvPr>
            <p:ph type="title"/>
          </p:nvPr>
        </p:nvSpPr>
        <p:spPr>
          <a:xfrm>
            <a:off x="1524000" y="266700"/>
            <a:ext cx="9144000" cy="369332"/>
          </a:xfrm>
        </p:spPr>
        <p:txBody>
          <a:bodyPr>
            <a:noAutofit/>
          </a:bodyPr>
          <a:lstStyle/>
          <a:p>
            <a:r>
              <a:rPr lang="en-US" altLang="ko-KR" sz="3200" dirty="0">
                <a:ea typeface="굴림" pitchFamily="34" charset="-127"/>
              </a:rPr>
              <a:t>E-mail: Monthly follow up to involve Stakeholders</a:t>
            </a:r>
          </a:p>
        </p:txBody>
      </p:sp>
      <p:sp>
        <p:nvSpPr>
          <p:cNvPr id="138245" name="Rectangle 3"/>
          <p:cNvSpPr>
            <a:spLocks noGrp="1" noChangeArrowheads="1"/>
          </p:cNvSpPr>
          <p:nvPr>
            <p:ph idx="1"/>
          </p:nvPr>
        </p:nvSpPr>
        <p:spPr>
          <a:xfrm>
            <a:off x="1524000" y="786822"/>
            <a:ext cx="8866187" cy="5189113"/>
          </a:xfrm>
        </p:spPr>
        <p:txBody>
          <a:bodyPr>
            <a:noAutofit/>
          </a:bodyPr>
          <a:lstStyle/>
          <a:p>
            <a:pPr marL="304800" indent="-304800">
              <a:lnSpc>
                <a:spcPct val="110000"/>
              </a:lnSpc>
              <a:buNone/>
            </a:pPr>
            <a:r>
              <a:rPr lang="en-US" altLang="ko-KR" sz="1400" dirty="0">
                <a:ea typeface="굴림" pitchFamily="34" charset="-127"/>
              </a:rPr>
              <a:t>Subject: Leadership growth suggestions to be implemented in the next 30 days!</a:t>
            </a:r>
          </a:p>
          <a:p>
            <a:pPr marL="304800" indent="-304800">
              <a:lnSpc>
                <a:spcPct val="100000"/>
              </a:lnSpc>
              <a:buNone/>
            </a:pPr>
            <a:r>
              <a:rPr lang="en-US" altLang="ko-KR" sz="1400" dirty="0" smtClean="0">
                <a:solidFill>
                  <a:srgbClr val="000000"/>
                </a:solidFill>
                <a:ea typeface="Batang" pitchFamily="18" charset="-127"/>
                <a:cs typeface="Arial" pitchFamily="34" charset="0"/>
              </a:rPr>
              <a:t>Dear </a:t>
            </a:r>
            <a:r>
              <a:rPr lang="en-US" altLang="ko-KR" sz="1400" dirty="0">
                <a:solidFill>
                  <a:srgbClr val="000000"/>
                </a:solidFill>
                <a:ea typeface="Batang" pitchFamily="18" charset="-127"/>
                <a:cs typeface="Arial" pitchFamily="34" charset="0"/>
              </a:rPr>
              <a:t>… (Stakeholder),</a:t>
            </a:r>
          </a:p>
          <a:p>
            <a:pPr marL="304800" indent="-304800">
              <a:lnSpc>
                <a:spcPct val="110000"/>
              </a:lnSpc>
              <a:buNone/>
            </a:pPr>
            <a:r>
              <a:rPr lang="en-US" altLang="ko-KR" sz="1400" dirty="0">
                <a:ea typeface="굴림" pitchFamily="34" charset="-127"/>
              </a:rPr>
              <a:t>I have been trying hard to implement the actions that I committed to last month. </a:t>
            </a:r>
          </a:p>
          <a:p>
            <a:pPr marL="0" indent="0">
              <a:buNone/>
            </a:pPr>
            <a:r>
              <a:rPr lang="en-US" sz="1400" dirty="0"/>
              <a:t>Going forward, I would like to get your input on my leadership growth focus. As you know I am committed to become more effective in the following leadership behavior(s): </a:t>
            </a:r>
          </a:p>
          <a:p>
            <a:r>
              <a:rPr lang="en-US" sz="1400" dirty="0"/>
              <a:t>1. Create more impact</a:t>
            </a:r>
          </a:p>
          <a:p>
            <a:r>
              <a:rPr lang="en-US" sz="1400" dirty="0"/>
              <a:t>2. Coach and support others in achieving their objectives</a:t>
            </a:r>
          </a:p>
          <a:p>
            <a:pPr marL="304800" indent="-304800">
              <a:lnSpc>
                <a:spcPct val="110000"/>
              </a:lnSpc>
              <a:buNone/>
            </a:pPr>
            <a:endParaRPr lang="en-US" altLang="ko-KR" sz="1400" dirty="0">
              <a:ea typeface="굴림" pitchFamily="34" charset="-127"/>
            </a:endParaRPr>
          </a:p>
          <a:p>
            <a:pPr>
              <a:buNone/>
            </a:pPr>
            <a:r>
              <a:rPr lang="en-US" sz="1400" u="sng" dirty="0"/>
              <a:t>Feedback from Past Month</a:t>
            </a:r>
            <a:endParaRPr lang="en-US" sz="1400" dirty="0"/>
          </a:p>
          <a:p>
            <a:pPr>
              <a:buNone/>
            </a:pPr>
            <a:r>
              <a:rPr lang="en-US" sz="1400" dirty="0"/>
              <a:t>A. “How did I do during the past 30 days ?”</a:t>
            </a:r>
          </a:p>
          <a:p>
            <a:r>
              <a:rPr lang="en-US" sz="1400" dirty="0" smtClean="0"/>
              <a:t>…..</a:t>
            </a:r>
            <a:endParaRPr lang="en-US" sz="1400" dirty="0"/>
          </a:p>
          <a:p>
            <a:pPr>
              <a:buNone/>
            </a:pPr>
            <a:r>
              <a:rPr lang="en-US" sz="1400" u="sng" dirty="0"/>
              <a:t>Feedforward for Next Month</a:t>
            </a:r>
            <a:endParaRPr lang="en-US" sz="1400" dirty="0"/>
          </a:p>
          <a:p>
            <a:pPr>
              <a:buNone/>
            </a:pPr>
            <a:r>
              <a:rPr lang="en-US" sz="1400" dirty="0"/>
              <a:t>B. What can I do in my relationship to you to demonstrate &amp; use this key leadership behavior. Give me 3-4 suggestions for the next 30 days?</a:t>
            </a:r>
          </a:p>
          <a:p>
            <a:r>
              <a:rPr lang="en-US" sz="1400" dirty="0" smtClean="0"/>
              <a:t>……</a:t>
            </a:r>
            <a:endParaRPr lang="en-US" altLang="ko-KR" sz="1400" dirty="0">
              <a:ea typeface="굴림" pitchFamily="34" charset="-127"/>
            </a:endParaRPr>
          </a:p>
          <a:p>
            <a:pPr marL="0" indent="0">
              <a:lnSpc>
                <a:spcPct val="110000"/>
              </a:lnSpc>
              <a:buNone/>
            </a:pPr>
            <a:r>
              <a:rPr lang="en-US" altLang="ko-KR" sz="1400" dirty="0">
                <a:ea typeface="굴림" pitchFamily="34" charset="-127"/>
              </a:rPr>
              <a:t>Please reply to me on the above in the next 2 days alternatively we can talk about this when we meet … (this Friday) ... Thank you for taking the time to provide me with your suggestions for my leadership growth.  </a:t>
            </a:r>
          </a:p>
          <a:p>
            <a:pPr marL="304800" indent="-304800">
              <a:lnSpc>
                <a:spcPct val="110000"/>
              </a:lnSpc>
              <a:buNone/>
            </a:pPr>
            <a:r>
              <a:rPr lang="en-US" altLang="ko-KR" sz="1400" dirty="0">
                <a:solidFill>
                  <a:srgbClr val="000000"/>
                </a:solidFill>
                <a:ea typeface="Batang" pitchFamily="18" charset="-127"/>
              </a:rPr>
              <a:t>					Best regards B </a:t>
            </a:r>
            <a:r>
              <a:rPr lang="en-US" altLang="ko-KR" sz="1400" dirty="0" err="1">
                <a:solidFill>
                  <a:srgbClr val="000000"/>
                </a:solidFill>
                <a:ea typeface="Batang" pitchFamily="18" charset="-127"/>
              </a:rPr>
              <a:t>Leeder</a:t>
            </a:r>
            <a:endParaRPr lang="en-US" altLang="ko-KR" sz="1400" dirty="0">
              <a:solidFill>
                <a:srgbClr val="000000"/>
              </a:solidFill>
              <a:ea typeface="Batang" pitchFamily="18" charset="-127"/>
            </a:endParaRPr>
          </a:p>
        </p:txBody>
      </p:sp>
    </p:spTree>
    <p:extLst>
      <p:ext uri="{BB962C8B-B14F-4D97-AF65-F5344CB8AC3E}">
        <p14:creationId xmlns:p14="http://schemas.microsoft.com/office/powerpoint/2010/main" val="4064906817"/>
      </p:ext>
    </p:extLst>
  </p:cSld>
  <p:clrMapOvr>
    <a:masterClrMapping/>
  </p:clrMapOvr>
  <p:transition/>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 name="Title 1"/>
          <p:cNvSpPr>
            <a:spLocks noGrp="1"/>
          </p:cNvSpPr>
          <p:nvPr>
            <p:ph type="title"/>
          </p:nvPr>
        </p:nvSpPr>
        <p:spPr>
          <a:xfrm>
            <a:off x="1505527" y="396010"/>
            <a:ext cx="9144000" cy="647700"/>
          </a:xfrm>
        </p:spPr>
        <p:txBody>
          <a:bodyPr>
            <a:noAutofit/>
          </a:bodyPr>
          <a:lstStyle/>
          <a:p>
            <a:pPr algn="ctr">
              <a:defRPr/>
            </a:pPr>
            <a:r>
              <a:rPr lang="en-US" sz="3600" b="1" dirty="0" smtClean="0"/>
              <a:t>Stakeholder </a:t>
            </a:r>
            <a:r>
              <a:rPr lang="en-US" sz="3600" b="1" dirty="0"/>
              <a:t>Centered Coaching</a:t>
            </a:r>
            <a:br>
              <a:rPr lang="en-US" sz="3600" b="1" dirty="0"/>
            </a:br>
            <a:r>
              <a:rPr lang="en-US" sz="3600" b="1" dirty="0"/>
              <a:t>Guarantees Measurable Leadership Growth</a:t>
            </a:r>
          </a:p>
        </p:txBody>
      </p:sp>
      <p:sp>
        <p:nvSpPr>
          <p:cNvPr id="2" name="Content Placeholder 1"/>
          <p:cNvSpPr>
            <a:spLocks noGrp="1"/>
          </p:cNvSpPr>
          <p:nvPr>
            <p:ph idx="1"/>
          </p:nvPr>
        </p:nvSpPr>
        <p:spPr>
          <a:xfrm>
            <a:off x="932872" y="1644074"/>
            <a:ext cx="9421091" cy="4479636"/>
          </a:xfrm>
        </p:spPr>
        <p:txBody>
          <a:bodyPr>
            <a:normAutofit fontScale="55000" lnSpcReduction="20000"/>
          </a:bodyPr>
          <a:lstStyle/>
          <a:p>
            <a:pPr marL="0" indent="0">
              <a:lnSpc>
                <a:spcPct val="150000"/>
              </a:lnSpc>
              <a:buNone/>
            </a:pPr>
            <a:r>
              <a:rPr lang="en-US" sz="3300" b="1" dirty="0" smtClean="0"/>
              <a:t>Phases	</a:t>
            </a:r>
            <a:r>
              <a:rPr lang="en-US" dirty="0" smtClean="0"/>
              <a:t>					</a:t>
            </a:r>
          </a:p>
          <a:p>
            <a:pPr marL="0" indent="0">
              <a:lnSpc>
                <a:spcPct val="150000"/>
              </a:lnSpc>
              <a:buNone/>
              <a:tabLst>
                <a:tab pos="336550" algn="l"/>
                <a:tab pos="571500" algn="l"/>
                <a:tab pos="914400" algn="l"/>
                <a:tab pos="1257300" algn="l"/>
                <a:tab pos="1657350" algn="l"/>
                <a:tab pos="1944688" algn="l"/>
                <a:tab pos="4235450" algn="l"/>
              </a:tabLst>
            </a:pPr>
            <a:r>
              <a:rPr lang="en-US" altLang="zh-CN" sz="4000" dirty="0" smtClean="0">
                <a:solidFill>
                  <a:srgbClr val="C00000"/>
                </a:solidFill>
              </a:rPr>
              <a:t>A</a:t>
            </a:r>
            <a:r>
              <a:rPr lang="en-US" sz="4000" dirty="0" smtClean="0">
                <a:solidFill>
                  <a:srgbClr val="C00000"/>
                </a:solidFill>
              </a:rPr>
              <a:t>1.	Behavioral interviews, structural assessment </a:t>
            </a:r>
          </a:p>
          <a:p>
            <a:pPr marL="0" indent="0" defTabSz="465138">
              <a:lnSpc>
                <a:spcPct val="150000"/>
              </a:lnSpc>
              <a:buNone/>
              <a:tabLst>
                <a:tab pos="336550" algn="l"/>
                <a:tab pos="571500" algn="l"/>
                <a:tab pos="914400" algn="l"/>
                <a:tab pos="1257300" algn="l"/>
                <a:tab pos="1657350" algn="l"/>
                <a:tab pos="1944688" algn="l"/>
                <a:tab pos="4235450" algn="l"/>
              </a:tabLst>
            </a:pPr>
            <a:r>
              <a:rPr lang="en-US" sz="4000" dirty="0" smtClean="0">
                <a:solidFill>
                  <a:srgbClr val="C00000"/>
                </a:solidFill>
              </a:rPr>
              <a:t>A2.	Determine leadership growth areas 	</a:t>
            </a:r>
          </a:p>
          <a:p>
            <a:pPr marL="0" indent="0">
              <a:lnSpc>
                <a:spcPct val="150000"/>
              </a:lnSpc>
              <a:buNone/>
              <a:tabLst>
                <a:tab pos="336550" algn="l"/>
                <a:tab pos="571500" algn="l"/>
                <a:tab pos="914400" algn="l"/>
                <a:tab pos="1257300" algn="l"/>
                <a:tab pos="1657350" algn="l"/>
                <a:tab pos="1944688" algn="l"/>
                <a:tab pos="4235450" algn="l"/>
              </a:tabLst>
            </a:pPr>
            <a:r>
              <a:rPr lang="en-US" sz="4000" dirty="0" smtClean="0"/>
              <a:t>B1.   Stakeholders briefing 	</a:t>
            </a:r>
          </a:p>
          <a:p>
            <a:pPr marL="0" indent="0">
              <a:lnSpc>
                <a:spcPct val="150000"/>
              </a:lnSpc>
              <a:buNone/>
              <a:tabLst>
                <a:tab pos="336550" algn="l"/>
                <a:tab pos="571500" algn="l"/>
                <a:tab pos="914400" algn="l"/>
                <a:tab pos="1257300" algn="l"/>
                <a:tab pos="1657350" algn="l"/>
                <a:tab pos="1944688" algn="l"/>
                <a:tab pos="4235450" algn="l"/>
              </a:tabLst>
            </a:pPr>
            <a:r>
              <a:rPr lang="en-US" sz="4000" dirty="0" smtClean="0"/>
              <a:t>B2.   Leading </a:t>
            </a:r>
            <a:r>
              <a:rPr lang="en-US" sz="4000" dirty="0"/>
              <a:t>Change </a:t>
            </a:r>
            <a:r>
              <a:rPr lang="en-US" sz="4000" dirty="0" smtClean="0"/>
              <a:t>Involving Stakeholders </a:t>
            </a:r>
          </a:p>
          <a:p>
            <a:pPr marL="0" indent="0">
              <a:lnSpc>
                <a:spcPct val="150000"/>
              </a:lnSpc>
              <a:buNone/>
              <a:tabLst>
                <a:tab pos="336550" algn="l"/>
                <a:tab pos="571500" algn="l"/>
                <a:tab pos="914400" algn="l"/>
                <a:tab pos="1257300" algn="l"/>
                <a:tab pos="1657350" algn="l"/>
                <a:tab pos="1944688" algn="l"/>
                <a:tab pos="4235450" algn="l"/>
              </a:tabLst>
            </a:pPr>
            <a:r>
              <a:rPr lang="en-US" sz="4000" dirty="0"/>
              <a:t>	</a:t>
            </a:r>
            <a:r>
              <a:rPr lang="en-US" sz="4000" dirty="0" smtClean="0"/>
              <a:t>    (Monthly Action Plan)				</a:t>
            </a:r>
          </a:p>
          <a:p>
            <a:pPr marL="0" indent="0">
              <a:lnSpc>
                <a:spcPct val="150000"/>
              </a:lnSpc>
              <a:buNone/>
              <a:tabLst>
                <a:tab pos="336550" algn="l"/>
                <a:tab pos="571500" algn="l"/>
                <a:tab pos="914400" algn="l"/>
                <a:tab pos="1257300" algn="l"/>
                <a:tab pos="1657350" algn="l"/>
                <a:tab pos="1944688" algn="l"/>
                <a:tab pos="4235450" algn="l"/>
              </a:tabLst>
            </a:pPr>
            <a:r>
              <a:rPr lang="en-US" sz="4000" dirty="0" smtClean="0"/>
              <a:t>C1.   Leadership </a:t>
            </a:r>
            <a:r>
              <a:rPr lang="en-US" sz="4000" dirty="0"/>
              <a:t>G</a:t>
            </a:r>
            <a:r>
              <a:rPr lang="en-US" sz="4000" dirty="0" smtClean="0"/>
              <a:t>rowth </a:t>
            </a:r>
            <a:r>
              <a:rPr lang="en-US" sz="4000" dirty="0"/>
              <a:t>P</a:t>
            </a:r>
            <a:r>
              <a:rPr lang="en-US" sz="4000" dirty="0" smtClean="0"/>
              <a:t>rogress Review</a:t>
            </a:r>
          </a:p>
          <a:p>
            <a:pPr marL="0" indent="0">
              <a:lnSpc>
                <a:spcPct val="150000"/>
              </a:lnSpc>
              <a:buNone/>
              <a:tabLst>
                <a:tab pos="336550" algn="l"/>
                <a:tab pos="571500" algn="l"/>
                <a:tab pos="914400" algn="l"/>
                <a:tab pos="1257300" algn="l"/>
                <a:tab pos="1657350" algn="l"/>
                <a:tab pos="1944688" algn="l"/>
                <a:tab pos="4235450" algn="l"/>
              </a:tabLst>
            </a:pPr>
            <a:r>
              <a:rPr lang="en-US" sz="4000" dirty="0" smtClean="0"/>
              <a:t>C2.   Leader becomes coach	</a:t>
            </a:r>
          </a:p>
        </p:txBody>
      </p:sp>
      <p:sp>
        <p:nvSpPr>
          <p:cNvPr id="25" name="Right Brace 24"/>
          <p:cNvSpPr/>
          <p:nvPr/>
        </p:nvSpPr>
        <p:spPr bwMode="auto">
          <a:xfrm>
            <a:off x="6562194" y="1856509"/>
            <a:ext cx="363684" cy="4064000"/>
          </a:xfrm>
          <a:prstGeom prst="rightBrace">
            <a:avLst>
              <a:gd name="adj1" fmla="val 0"/>
              <a:gd name="adj2" fmla="val 10790"/>
            </a:avLst>
          </a:prstGeom>
          <a:noFill/>
          <a:ln w="28575" cap="flat" cmpd="sng" algn="ctr">
            <a:solidFill>
              <a:srgbClr val="005246"/>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noAutofit/>
          </a:bodyPr>
          <a:lstStyle/>
          <a:p>
            <a:pPr algn="ctr" eaLnBrk="0" fontAlgn="base" hangingPunct="0">
              <a:spcBef>
                <a:spcPct val="20000"/>
              </a:spcBef>
              <a:spcAft>
                <a:spcPct val="0"/>
              </a:spcAft>
              <a:tabLst>
                <a:tab pos="1944688" algn="l"/>
              </a:tabLst>
            </a:pPr>
            <a:endParaRPr lang="en-US" sz="1600" b="1">
              <a:solidFill>
                <a:srgbClr val="000000"/>
              </a:solidFill>
              <a:latin typeface="Arial" charset="0"/>
            </a:endParaRPr>
          </a:p>
        </p:txBody>
      </p:sp>
      <p:pic>
        <p:nvPicPr>
          <p:cNvPr id="10" name="그림 3" descr="D:\alldata\A SCC-MG\Coaching - SCC-MG\SCC-MG process\SCC-MG - Process - portrait - final.jpg"/>
          <p:cNvPicPr/>
          <p:nvPr/>
        </p:nvPicPr>
        <p:blipFill rotWithShape="1">
          <a:blip r:embed="rId2" cstate="print"/>
          <a:srcRect b="30628"/>
          <a:stretch/>
        </p:blipFill>
        <p:spPr bwMode="auto">
          <a:xfrm>
            <a:off x="7110603" y="1644073"/>
            <a:ext cx="4536452" cy="4276435"/>
          </a:xfrm>
          <a:prstGeom prst="rect">
            <a:avLst/>
          </a:prstGeom>
          <a:noFill/>
          <a:ln w="9525">
            <a:noFill/>
            <a:miter lim="800000"/>
            <a:headEnd/>
            <a:tailEnd/>
          </a:ln>
        </p:spPr>
      </p:pic>
    </p:spTree>
    <p:extLst>
      <p:ext uri="{BB962C8B-B14F-4D97-AF65-F5344CB8AC3E}">
        <p14:creationId xmlns:p14="http://schemas.microsoft.com/office/powerpoint/2010/main" val="2453240124"/>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xEl>
                                              <p:pRg st="0" end="0"/>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2">
                                            <p:txEl>
                                              <p:pRg st="1" end="1"/>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
                                            <p:txEl>
                                              <p:pRg st="3" end="3"/>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2">
                                            <p:txEl>
                                              <p:pRg st="4" end="4"/>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2">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
                                            <p:txEl>
                                              <p:pRg st="6" end="6"/>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2">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6132" name="Rectangle 2"/>
          <p:cNvSpPr>
            <a:spLocks noGrp="1" noChangeArrowheads="1"/>
          </p:cNvSpPr>
          <p:nvPr>
            <p:ph type="title"/>
          </p:nvPr>
        </p:nvSpPr>
        <p:spPr>
          <a:xfrm>
            <a:off x="655782" y="236704"/>
            <a:ext cx="11222182" cy="457200"/>
          </a:xfrm>
        </p:spPr>
        <p:txBody>
          <a:bodyPr>
            <a:normAutofit fontScale="90000"/>
          </a:bodyPr>
          <a:lstStyle/>
          <a:p>
            <a:r>
              <a:rPr lang="en-US" altLang="ko-KR" dirty="0" smtClean="0">
                <a:ea typeface="굴림" pitchFamily="34" charset="-127"/>
              </a:rPr>
              <a:t>Continuous leadership development for you &amp; others</a:t>
            </a:r>
          </a:p>
        </p:txBody>
      </p:sp>
      <p:sp>
        <p:nvSpPr>
          <p:cNvPr id="1123331" name="Rectangle 3"/>
          <p:cNvSpPr>
            <a:spLocks noGrp="1" noChangeArrowheads="1"/>
          </p:cNvSpPr>
          <p:nvPr>
            <p:ph type="body" idx="1"/>
          </p:nvPr>
        </p:nvSpPr>
        <p:spPr>
          <a:xfrm>
            <a:off x="1077913" y="927765"/>
            <a:ext cx="8585200" cy="2268017"/>
          </a:xfrm>
        </p:spPr>
        <p:txBody>
          <a:bodyPr>
            <a:normAutofit fontScale="70000" lnSpcReduction="20000"/>
          </a:bodyPr>
          <a:lstStyle/>
          <a:p>
            <a:pPr>
              <a:spcAft>
                <a:spcPts val="1200"/>
              </a:spcAft>
              <a:buNone/>
            </a:pPr>
            <a:r>
              <a:rPr lang="en-US" altLang="ko-KR" dirty="0" err="1" smtClean="0">
                <a:ea typeface="굴림" pitchFamily="34" charset="-127"/>
              </a:rPr>
              <a:t>Sarcopenia</a:t>
            </a:r>
            <a:r>
              <a:rPr lang="en-US" altLang="ko-KR" dirty="0" smtClean="0">
                <a:ea typeface="굴림" pitchFamily="34" charset="-127"/>
              </a:rPr>
              <a:t>: Muscles become smaller and weaker as people age</a:t>
            </a:r>
          </a:p>
          <a:p>
            <a:pPr>
              <a:buFont typeface="Wingdings" pitchFamily="2" charset="2"/>
              <a:buChar char="Ø"/>
            </a:pPr>
            <a:r>
              <a:rPr lang="en-US" altLang="ko-KR" dirty="0" smtClean="0">
                <a:ea typeface="굴림" pitchFamily="34" charset="-127"/>
              </a:rPr>
              <a:t>Starts in 30’s &amp; 40’s</a:t>
            </a:r>
          </a:p>
          <a:p>
            <a:pPr>
              <a:buFont typeface="Wingdings" pitchFamily="2" charset="2"/>
              <a:buChar char="Ø"/>
            </a:pPr>
            <a:r>
              <a:rPr lang="en-US" altLang="ko-KR" dirty="0" smtClean="0">
                <a:ea typeface="굴림" pitchFamily="34" charset="-127"/>
              </a:rPr>
              <a:t>Lose 25% muscle mass by age 70</a:t>
            </a:r>
          </a:p>
          <a:p>
            <a:pPr>
              <a:buFont typeface="Wingdings" pitchFamily="2" charset="2"/>
              <a:buChar char="Ø"/>
            </a:pPr>
            <a:r>
              <a:rPr lang="en-US" altLang="ko-KR" dirty="0" smtClean="0">
                <a:ea typeface="굴림" pitchFamily="34" charset="-127"/>
              </a:rPr>
              <a:t>+ Lose 25% muscle mass by age 90</a:t>
            </a:r>
          </a:p>
          <a:p>
            <a:pPr>
              <a:buNone/>
            </a:pPr>
            <a:endParaRPr lang="en-US" altLang="ko-KR" dirty="0" smtClean="0">
              <a:ea typeface="굴림" pitchFamily="34" charset="-127"/>
            </a:endParaRPr>
          </a:p>
          <a:p>
            <a:pPr>
              <a:buNone/>
            </a:pPr>
            <a:r>
              <a:rPr lang="en-US" altLang="ko-KR" dirty="0" smtClean="0">
                <a:ea typeface="굴림" pitchFamily="34" charset="-127"/>
              </a:rPr>
              <a:t>That which is used </a:t>
            </a:r>
            <a:r>
              <a:rPr lang="en-US" altLang="ko-KR" dirty="0" smtClean="0">
                <a:ea typeface="굴림" pitchFamily="34" charset="-127"/>
              </a:rPr>
              <a:t>develops, that </a:t>
            </a:r>
            <a:r>
              <a:rPr lang="en-US" altLang="ko-KR" dirty="0" smtClean="0">
                <a:ea typeface="굴림" pitchFamily="34" charset="-127"/>
              </a:rPr>
              <a:t>which is not used wastes away (Hippocrates)</a:t>
            </a:r>
          </a:p>
        </p:txBody>
      </p:sp>
      <p:pic>
        <p:nvPicPr>
          <p:cNvPr id="1123333" name="Picture 5" descr="hippocrates"/>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9795582" y="897990"/>
            <a:ext cx="1592854" cy="2081329"/>
          </a:xfrm>
          <a:prstGeom prst="rect">
            <a:avLst/>
          </a:prstGeom>
          <a:noFill/>
          <a:ln w="9525">
            <a:noFill/>
            <a:miter lim="800000"/>
            <a:headEnd/>
            <a:tailEnd/>
          </a:ln>
        </p:spPr>
      </p:pic>
      <p:sp>
        <p:nvSpPr>
          <p:cNvPr id="1123334" name="Rectangle 6"/>
          <p:cNvSpPr>
            <a:spLocks noChangeArrowheads="1"/>
          </p:cNvSpPr>
          <p:nvPr/>
        </p:nvSpPr>
        <p:spPr bwMode="auto">
          <a:xfrm>
            <a:off x="1077913" y="3632324"/>
            <a:ext cx="6588269" cy="2169825"/>
          </a:xfrm>
          <a:prstGeom prst="rect">
            <a:avLst/>
          </a:prstGeom>
          <a:noFill/>
          <a:ln w="34925">
            <a:noFill/>
            <a:miter lim="800000"/>
            <a:headEnd/>
            <a:tailEnd/>
          </a:ln>
        </p:spPr>
        <p:txBody>
          <a:bodyPr wrap="square">
            <a:spAutoFit/>
          </a:bodyPr>
          <a:lstStyle/>
          <a:p>
            <a:pPr>
              <a:lnSpc>
                <a:spcPct val="150000"/>
              </a:lnSpc>
            </a:pPr>
            <a:r>
              <a:rPr lang="en-US" altLang="ko-KR" dirty="0">
                <a:ea typeface="굴림" pitchFamily="34" charset="-127"/>
              </a:rPr>
              <a:t>Light diet of feedback / </a:t>
            </a:r>
            <a:r>
              <a:rPr lang="en-US" altLang="ko-KR" dirty="0" err="1">
                <a:ea typeface="굴림" pitchFamily="34" charset="-127"/>
              </a:rPr>
              <a:t>feedforward</a:t>
            </a:r>
            <a:r>
              <a:rPr lang="en-US" altLang="ko-KR" dirty="0">
                <a:ea typeface="굴림" pitchFamily="34" charset="-127"/>
              </a:rPr>
              <a:t>, done regularly will keep us from losing leadership strength</a:t>
            </a:r>
          </a:p>
          <a:p>
            <a:pPr>
              <a:lnSpc>
                <a:spcPct val="150000"/>
              </a:lnSpc>
            </a:pPr>
            <a:endParaRPr lang="en-US" altLang="ko-KR" dirty="0">
              <a:ea typeface="굴림" pitchFamily="34" charset="-127"/>
            </a:endParaRPr>
          </a:p>
          <a:p>
            <a:r>
              <a:rPr lang="en-US" altLang="ko-KR" dirty="0">
                <a:ea typeface="굴림" pitchFamily="34" charset="-127"/>
              </a:rPr>
              <a:t>Management development </a:t>
            </a:r>
            <a:r>
              <a:rPr lang="en-US" altLang="ko-KR" dirty="0">
                <a:ea typeface="굴림" pitchFamily="34" charset="-127"/>
                <a:sym typeface="Wingdings" pitchFamily="2" charset="2"/>
              </a:rPr>
              <a:t> </a:t>
            </a:r>
            <a:r>
              <a:rPr lang="en-US" altLang="ko-KR" dirty="0" smtClean="0">
                <a:ea typeface="굴림" pitchFamily="34" charset="-127"/>
                <a:sym typeface="Wingdings" pitchFamily="2" charset="2"/>
              </a:rPr>
              <a:t>E</a:t>
            </a:r>
            <a:r>
              <a:rPr lang="en-US" altLang="ko-KR" dirty="0" smtClean="0">
                <a:ea typeface="굴림" pitchFamily="34" charset="-127"/>
              </a:rPr>
              <a:t>ngage </a:t>
            </a:r>
            <a:r>
              <a:rPr lang="en-US" altLang="ko-KR" dirty="0">
                <a:ea typeface="굴림" pitchFamily="34" charset="-127"/>
              </a:rPr>
              <a:t>in life long Stakeholder Centered Coaching with your direct reports and reap business and personal benefits for yourself and your team!</a:t>
            </a:r>
          </a:p>
        </p:txBody>
      </p:sp>
      <p:pic>
        <p:nvPicPr>
          <p:cNvPr id="1123335" name="Picture 7" descr="Lighthouse light of the world"/>
          <p:cNvPicPr>
            <a:picLocks noChangeAspect="1" noChangeArrowheads="1"/>
          </p:cNvPicPr>
          <p:nvPr/>
        </p:nvPicPr>
        <p:blipFill rotWithShape="1">
          <a:blip r:embed="rId4" cstate="print">
            <a:extLst>
              <a:ext uri="{28A0092B-C50C-407E-A947-70E740481C1C}">
                <a14:useLocalDpi xmlns:a14="http://schemas.microsoft.com/office/drawing/2010/main" val="0"/>
              </a:ext>
            </a:extLst>
          </a:blip>
          <a:srcRect l="5289" t="3018" r="5267" b="3292"/>
          <a:stretch/>
        </p:blipFill>
        <p:spPr bwMode="auto">
          <a:xfrm>
            <a:off x="8488955" y="3429643"/>
            <a:ext cx="2899481" cy="2754489"/>
          </a:xfrm>
          <a:prstGeom prst="rect">
            <a:avLst/>
          </a:prstGeom>
          <a:noFill/>
          <a:ln w="9525">
            <a:noFill/>
            <a:miter lim="800000"/>
            <a:headEnd/>
            <a:tailEnd/>
          </a:ln>
        </p:spPr>
      </p:pic>
    </p:spTree>
    <p:extLst>
      <p:ext uri="{BB962C8B-B14F-4D97-AF65-F5344CB8AC3E}">
        <p14:creationId xmlns:p14="http://schemas.microsoft.com/office/powerpoint/2010/main" val="4045264778"/>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23331">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123331">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123331">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123331">
                                            <p:txEl>
                                              <p:pRg st="3" end="3"/>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123331">
                                            <p:txEl>
                                              <p:pRg st="5" end="5"/>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123333"/>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1123334"/>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112333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23331" grpId="0" build="p"/>
      <p:bldP spid="1123334" grpId="0"/>
    </p:bldLst>
  </p:timing>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186</TotalTime>
  <Words>1733</Words>
  <Application>Microsoft Office PowerPoint</Application>
  <PresentationFormat>宽屏</PresentationFormat>
  <Paragraphs>195</Paragraphs>
  <Slides>15</Slides>
  <Notes>12</Notes>
  <HiddenSlides>0</HiddenSlides>
  <MMClips>0</MMClips>
  <ScaleCrop>false</ScaleCrop>
  <HeadingPairs>
    <vt:vector size="6" baseType="variant">
      <vt:variant>
        <vt:lpstr>已用的字体</vt:lpstr>
      </vt:variant>
      <vt:variant>
        <vt:i4>10</vt:i4>
      </vt:variant>
      <vt:variant>
        <vt:lpstr>主题</vt:lpstr>
      </vt:variant>
      <vt:variant>
        <vt:i4>1</vt:i4>
      </vt:variant>
      <vt:variant>
        <vt:lpstr>幻灯片标题</vt:lpstr>
      </vt:variant>
      <vt:variant>
        <vt:i4>15</vt:i4>
      </vt:variant>
    </vt:vector>
  </HeadingPairs>
  <TitlesOfParts>
    <vt:vector size="26" baseType="lpstr">
      <vt:lpstr>Batang</vt:lpstr>
      <vt:lpstr>굴림</vt:lpstr>
      <vt:lpstr>Malgun Gothic</vt:lpstr>
      <vt:lpstr>等线</vt:lpstr>
      <vt:lpstr>等线 Light</vt:lpstr>
      <vt:lpstr>Arial</vt:lpstr>
      <vt:lpstr>Calibri</vt:lpstr>
      <vt:lpstr>Calibri Light</vt:lpstr>
      <vt:lpstr>Times New Roman</vt:lpstr>
      <vt:lpstr>Wingdings</vt:lpstr>
      <vt:lpstr>Office 主题​​</vt:lpstr>
      <vt:lpstr>Stakeholder Centered Coaching for Guaranteed &amp; Measurable Leadership Growth </vt:lpstr>
      <vt:lpstr>Goal = Measurable Leadership Growth</vt:lpstr>
      <vt:lpstr>Stakeholder Centered Coaching Guarantees Measurable Leadership Growth</vt:lpstr>
      <vt:lpstr>Stakeholder Centered Coaching</vt:lpstr>
      <vt:lpstr>Select stakeholders</vt:lpstr>
      <vt:lpstr>My Leadership Growth Areas</vt:lpstr>
      <vt:lpstr>E-mail stakeholders to initiate the coaching program</vt:lpstr>
      <vt:lpstr>PowerPoint 演示文稿</vt:lpstr>
      <vt:lpstr> Leader’s commitment: Leading Change Involving Stakeholders (Monthly)</vt:lpstr>
      <vt:lpstr>PowerPoint 演示文稿</vt:lpstr>
      <vt:lpstr>Daily Behavioral Checklist</vt:lpstr>
      <vt:lpstr>e-mail: Responding to stakeholders (&amp; share MAP)</vt:lpstr>
      <vt:lpstr>E-mail: Monthly follow up to involve Stakeholders</vt:lpstr>
      <vt:lpstr>Stakeholder Centered Coaching Guarantees Measurable Leadership Growth</vt:lpstr>
      <vt:lpstr>Continuous leadership development for you &amp; others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Stakeholder Centered Coaching for Guaranteed &amp; Measurable Leadership Growth</dc:title>
  <dc:creator>JZ PC</dc:creator>
  <cp:lastModifiedBy>JZ PC</cp:lastModifiedBy>
  <cp:revision>22</cp:revision>
  <dcterms:created xsi:type="dcterms:W3CDTF">2025-10-22T23:15:23Z</dcterms:created>
  <dcterms:modified xsi:type="dcterms:W3CDTF">2025-10-25T20:45:58Z</dcterms:modified>
</cp:coreProperties>
</file>